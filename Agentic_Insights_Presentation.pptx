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Data-Driven Scientific Discovery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AI-powered autonomous research system for scientific discovery</a:t>
            </a:r>
          </a:p>
          <a:p>
            <a:pPr/>
            <a:r>
              <a:t>Combines multi-agent orchestration with rigorous statistical analysis</a:t>
            </a:r>
          </a:p>
          <a:p>
            <a:pPr/>
            <a:r>
              <a:t>Inspired by the Kosmos framework (arXiv:2511.02824v2)</a:t>
            </a:r>
          </a:p>
          <a:p>
            <a:pPr/>
            <a:r>
              <a:t>Automatically explores datasets and generates research-grade insights</a:t>
            </a:r>
          </a:p>
          <a:p>
            <a:pPr/>
            <a:r>
              <a:t>Iterative learning approach that builds knowledge across cycles</a:t>
            </a:r>
          </a:p>
          <a:p>
            <a:pPr/>
            <a:r>
              <a:t>Dual evidence: Data analysis + Literature review synthesis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Does It Solve?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Manual Bottlenecks in Research</a:t>
            </a:r>
          </a:p>
          <a:p>
            <a:pPr lvl="1"/>
            <a:r>
              <a:t>Traditional data analysis requires extensive manual effort</a:t>
            </a:r>
          </a:p>
          <a:p>
            <a:pPr lvl="1"/>
            <a:r>
              <a:t>Literature review is time-consuming and repetitive</a:t>
            </a:r>
          </a:p>
          <a:p>
            <a:pPr lvl="1"/>
            <a:r>
              <a:t>Hypothesis generation limited by human cognitive constraints</a:t>
            </a:r>
          </a:p>
          <a:p>
            <a:pPr/>
          </a:p>
          <a:p>
            <a:pPr>
              <a:defRPr b="1"/>
            </a:pPr>
            <a:r>
              <a:t>Quality &amp; Reproducibility Issues</a:t>
            </a:r>
          </a:p>
          <a:p>
            <a:pPr lvl="1"/>
            <a:r>
              <a:t>Inconsistent statistical rigor across analyses</a:t>
            </a:r>
          </a:p>
          <a:p>
            <a:pPr lvl="1"/>
            <a:r>
              <a:t>Limited traceability from data to conclusions</a:t>
            </a:r>
          </a:p>
          <a:p>
            <a:pPr lvl="1"/>
            <a:r>
              <a:t>Difficulty maintaining context across multiple investigations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Multi-Layer Intelligent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Orchestration Layer</a:t>
            </a:r>
          </a:p>
          <a:p>
            <a:pPr lvl="1"/>
            <a:r>
              <a:t>KosmosFramework coordinates multi-cycle discovery processes</a:t>
            </a:r>
          </a:p>
          <a:p>
            <a:pPr/>
          </a:p>
          <a:p>
            <a:pPr>
              <a:defRPr b="1"/>
            </a:pPr>
            <a:r>
              <a:t>Agent Layer</a:t>
            </a:r>
          </a:p>
          <a:p>
            <a:pPr lvl="1"/>
            <a:r>
              <a:t>DataAnalysisAgent: Generates &amp; executes statistical code</a:t>
            </a:r>
          </a:p>
          <a:p>
            <a:pPr lvl="1"/>
            <a:r>
              <a:t>LiteratureSearchAgent: Finds and synthesizes research</a:t>
            </a:r>
          </a:p>
          <a:p>
            <a:pPr/>
          </a:p>
          <a:p>
            <a:pPr>
              <a:defRPr b="1"/>
            </a:pPr>
            <a:r>
              <a:t>Knowledge Layer</a:t>
            </a:r>
          </a:p>
          <a:p>
            <a:pPr lvl="1"/>
            <a:r>
              <a:t>World Model: Persistent context across discovery cycles</a:t>
            </a:r>
          </a:p>
          <a:p>
            <a:pPr/>
          </a:p>
          <a:p>
            <a:pPr>
              <a:defRPr b="1"/>
            </a:pPr>
            <a:r>
              <a:t>Enhancement Layer</a:t>
            </a:r>
          </a:p>
          <a:p>
            <a:pPr lvl="1"/>
            <a:r>
              <a:t>Statistical extraction and scientific report generation</a:t>
            </a:r>
          </a:p>
          <a:p>
            <a:pPr/>
          </a:p>
          <a:p>
            <a:pPr>
              <a:defRPr b="1"/>
            </a:pPr>
            <a:r>
              <a:t>Interface Layer</a:t>
            </a:r>
          </a:p>
          <a:p>
            <a:pPr lvl="1"/>
            <a:r>
              <a:t>Streamlit web applications for user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Autonomous Discovery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Discovery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Step 1: Review Current Knowledge State</a:t>
            </a:r>
          </a:p>
          <a:p>
            <a:pPr lvl="1"/>
            <a:r>
              <a:t>World Model provides context from previous discoveries</a:t>
            </a:r>
          </a:p>
          <a:p>
            <a:pPr/>
          </a:p>
          <a:p>
            <a:pPr>
              <a:defRPr b="1"/>
            </a:pPr>
            <a:r>
              <a:t>Step 2: Generate Research Questions</a:t>
            </a:r>
          </a:p>
          <a:p>
            <a:pPr lvl="1"/>
            <a:r>
              <a:t>LLM creates novel hypotheses based on existing knowledge</a:t>
            </a:r>
          </a:p>
          <a:p>
            <a:pPr/>
          </a:p>
          <a:p>
            <a:pPr>
              <a:defRPr b="1"/>
            </a:pPr>
            <a:r>
              <a:t>Step 3: Parallel Task Execution</a:t>
            </a:r>
          </a:p>
          <a:p>
            <a:pPr lvl="1"/>
            <a:r>
              <a:t>Data analysis + Literature search run simultaneously</a:t>
            </a:r>
          </a:p>
          <a:p>
            <a:pPr/>
          </a:p>
          <a:p>
            <a:pPr>
              <a:defRPr b="1"/>
            </a:pPr>
            <a:r>
              <a:t>Step 4: Synthesize Discoveries</a:t>
            </a:r>
          </a:p>
          <a:p>
            <a:pPr lvl="1"/>
            <a:r>
              <a:t>Combine evidence from multiple sources</a:t>
            </a:r>
          </a:p>
          <a:p>
            <a:pPr/>
          </a:p>
          <a:p>
            <a:pPr>
              <a:defRPr b="1"/>
            </a:pPr>
            <a:r>
              <a:t>Step 5: Update World Model</a:t>
            </a:r>
          </a:p>
          <a:p>
            <a:pPr lvl="1"/>
            <a:r>
              <a:t>Persist findings for next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World Model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Persistent Knowledge Repository</a:t>
            </a:r>
          </a:p>
          <a:p>
            <a:pPr lvl="1"/>
            <a:r>
              <a:t>Structured representation of accumulated knowledge</a:t>
            </a:r>
          </a:p>
          <a:p>
            <a:pPr lvl="1"/>
            <a:r>
              <a:t>Tracks discoveries, trajectories, hypotheses, questions</a:t>
            </a:r>
          </a:p>
          <a:p>
            <a:pPr/>
          </a:p>
          <a:p>
            <a:pPr>
              <a:defRPr b="1"/>
            </a:pPr>
            <a:r>
              <a:t>Context Management</a:t>
            </a:r>
          </a:p>
          <a:p>
            <a:pPr lvl="1"/>
            <a:r>
              <a:t>Generates summaries for agent prompts</a:t>
            </a:r>
          </a:p>
          <a:p>
            <a:pPr lvl="1"/>
            <a:r>
              <a:t>Enables cumulative learning across cycles</a:t>
            </a:r>
          </a:p>
          <a:p>
            <a:pPr lvl="1"/>
            <a:r>
              <a:t>Builds on previous findings systematically</a:t>
            </a:r>
          </a:p>
          <a:p>
            <a:pPr/>
          </a:p>
          <a:p>
            <a:pPr>
              <a:defRPr b="1"/>
            </a:pPr>
            <a:r>
              <a:t>Enhanced Features</a:t>
            </a:r>
          </a:p>
          <a:p>
            <a:pPr lvl="1"/>
            <a:r>
              <a:t>Rich metadata: timestamps, confidence scores</a:t>
            </a:r>
          </a:p>
          <a:p>
            <a:pPr lvl="1"/>
            <a:r>
              <a:t>Advanced filtering and querying capabilities</a:t>
            </a:r>
          </a:p>
          <a:p>
            <a:pPr lvl="1"/>
            <a:r>
              <a:t>Cycle summaries and question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Rigor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Automatic Statistical Extraction</a:t>
            </a:r>
          </a:p>
          <a:p>
            <a:pPr lvl="1"/>
            <a:r>
              <a:t>p-values, effect sizes, confidence intervals</a:t>
            </a:r>
          </a:p>
          <a:p>
            <a:pPr lvl="1"/>
            <a:r>
              <a:t>Pearson correlation, t-tests, ANOVA, linear regression</a:t>
            </a:r>
          </a:p>
          <a:p>
            <a:pPr/>
          </a:p>
          <a:p>
            <a:pPr>
              <a:defRPr b="1"/>
            </a:pPr>
            <a:r>
              <a:t>Causal Inference Assessment</a:t>
            </a:r>
          </a:p>
          <a:p>
            <a:pPr lvl="1"/>
            <a:r>
              <a:t>Bradford Hill criteria for causality</a:t>
            </a:r>
          </a:p>
          <a:p>
            <a:pPr lvl="1"/>
            <a:r>
              <a:t>Explicit discussion of confounders</a:t>
            </a:r>
          </a:p>
          <a:p>
            <a:pPr/>
          </a:p>
          <a:p>
            <a:pPr>
              <a:defRPr b="1"/>
            </a:pPr>
            <a:r>
              <a:t>Transparency &amp; Traceability</a:t>
            </a:r>
          </a:p>
          <a:p>
            <a:pPr lvl="1"/>
            <a:r>
              <a:t>Every discovery linked to supporting trajectories</a:t>
            </a:r>
          </a:p>
          <a:p>
            <a:pPr lvl="1"/>
            <a:r>
              <a:t>Analysis code saved with unique IDs</a:t>
            </a:r>
          </a:p>
          <a:p>
            <a:pPr lvl="1"/>
            <a:r>
              <a:t>Complete audit trail from raw data to conclusions</a:t>
            </a:r>
          </a:p>
          <a:p>
            <a:pPr lvl="1"/>
            <a:r>
              <a:t>Methodology documentation included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Modules and Their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KosmosFramework (main.py - 291 lines)</a:t>
            </a:r>
          </a:p>
          <a:p>
            <a:pPr lvl="1"/>
            <a:r>
              <a:t>Central orchestrator, manages 5-10 discovery cycles</a:t>
            </a:r>
          </a:p>
          <a:p>
            <a:pPr lvl="1"/>
            <a:r>
              <a:t>Research question generation using GPT-3.5-turbo</a:t>
            </a:r>
          </a:p>
          <a:p>
            <a:pPr/>
          </a:p>
          <a:p>
            <a:pPr>
              <a:defRPr b="1"/>
            </a:pPr>
            <a:r>
              <a:t>DataAnalysisAgent (agents/data_analyst.py - 237 lines)</a:t>
            </a:r>
          </a:p>
          <a:p>
            <a:pPr lvl="1"/>
            <a:r>
              <a:t>Generates executable Python code for analysis</a:t>
            </a:r>
          </a:p>
          <a:p>
            <a:pPr lvl="1"/>
            <a:r>
              <a:t>Safe execution with error handling (max 3 retries)</a:t>
            </a:r>
          </a:p>
          <a:p>
            <a:pPr/>
          </a:p>
          <a:p>
            <a:pPr>
              <a:defRPr b="1"/>
            </a:pPr>
            <a:r>
              <a:t>LiteratureSearchAgent (agents/literature_searcher.py - 228 lines)</a:t>
            </a:r>
          </a:p>
          <a:p>
            <a:pPr lvl="1"/>
            <a:r>
              <a:t>Searches and ranks research papers by relevance</a:t>
            </a:r>
          </a:p>
          <a:p>
            <a:pPr lvl="1"/>
            <a:r>
              <a:t>Links literature support to data discoveries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Model &amp; 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World Model (world_model_builder.py - 396 lines)</a:t>
            </a:r>
          </a:p>
          <a:p>
            <a:pPr lvl="1"/>
            <a:r>
              <a:t>Structured dataclasses for Discovery &amp; Trajectory objects</a:t>
            </a:r>
          </a:p>
          <a:p>
            <a:pPr lvl="1"/>
            <a:r>
              <a:t>Rich metadata, filtering, and querying capabilities</a:t>
            </a:r>
          </a:p>
          <a:p>
            <a:pPr lvl="1"/>
            <a:r>
              <a:t>Context generation optimized for LLM prompts</a:t>
            </a:r>
          </a:p>
          <a:p>
            <a:pPr/>
          </a:p>
          <a:p>
            <a:pPr>
              <a:defRPr b="1"/>
            </a:pPr>
            <a:r>
              <a:t>AutoEnhancedReportGenerator (auto_enhanced_report.py - 332 lines)</a:t>
            </a:r>
          </a:p>
          <a:p>
            <a:pPr lvl="1"/>
            <a:r>
              <a:t>Extracts statistics from trajectory outputs</a:t>
            </a:r>
          </a:p>
          <a:p>
            <a:pPr lvl="1"/>
            <a:r>
              <a:t>Formats discoveries with supporting evidence</a:t>
            </a:r>
          </a:p>
          <a:p>
            <a:pPr lvl="1"/>
            <a:r>
              <a:t>Includes methodology, limitations, future directions</a:t>
            </a:r>
          </a:p>
          <a:p>
            <a:pPr/>
          </a:p>
          <a:p>
            <a:pPr>
              <a:defRPr b="1"/>
            </a:pPr>
            <a:r>
              <a:t>Streamlit Interface (streamlit_app_ULTIMATE.py - 1,642 lines)</a:t>
            </a:r>
          </a:p>
          <a:p>
            <a:pPr lvl="1"/>
            <a:r>
              <a:t>Real OpenAI API integration with live statistical analysis</a:t>
            </a:r>
          </a:p>
          <a:p>
            <a:pPr lvl="1"/>
            <a:r>
              <a:t>Progress tracking and comprehensive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Interaction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Input (Streamlit)</a:t>
            </a:r>
          </a:p>
          <a:p>
            <a:pPr/>
            <a:r>
              <a:t>↓</a:t>
            </a:r>
          </a:p>
          <a:p>
            <a:pPr/>
            <a:r>
              <a:t>KosmosFramework Initialization</a:t>
            </a:r>
          </a:p>
          <a:p>
            <a:pPr/>
            <a:r>
              <a:t>↓</a:t>
            </a:r>
          </a:p>
          <a:p>
            <a:pPr/>
            <a:r>
              <a:t>Generate Research Questions (LLM)</a:t>
            </a:r>
          </a:p>
          <a:p>
            <a:pPr/>
            <a:r>
              <a:t>↓</a:t>
            </a:r>
          </a:p>
          <a:p>
            <a:pPr/>
            <a:r>
              <a:t>Parallel Execution:</a:t>
            </a:r>
          </a:p>
          <a:p>
            <a:pPr lvl="1"/>
            <a:r>
              <a:t>DataAnalysisAgent → Execute Code → Extract Stats</a:t>
            </a:r>
          </a:p>
          <a:p>
            <a:pPr lvl="1"/>
            <a:r>
              <a:t>LiteratureSearchAgent → Find Papers → Synthesize</a:t>
            </a:r>
          </a:p>
          <a:p>
            <a:pPr/>
            <a:r>
              <a:t>↓</a:t>
            </a:r>
          </a:p>
          <a:p>
            <a:pPr/>
            <a:r>
              <a:t>Update World Model</a:t>
            </a:r>
          </a:p>
          <a:p>
            <a:pPr/>
            <a:r>
              <a:t>↓</a:t>
            </a:r>
          </a:p>
          <a:p>
            <a:pPr/>
            <a:r>
              <a:t>Synthesize Discoveries (LLM)</a:t>
            </a:r>
          </a:p>
          <a:p>
            <a:pPr/>
            <a:r>
              <a:t>↓</a:t>
            </a:r>
          </a:p>
          <a:p>
            <a:pPr/>
            <a:r>
              <a:t>AutoEnhancedReportGenerator → Enhanced Scientific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Accomplishes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Objectives and Outcomes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Automated Scientific Discovery Pipeline</a:t>
            </a:r>
          </a:p>
          <a:p>
            <a:pPr lvl="1"/>
            <a:r>
              <a:t>Raw data → rigorous, publication-ready insights</a:t>
            </a:r>
          </a:p>
          <a:p>
            <a:pPr lvl="1"/>
            <a:r>
              <a:t>Minimal human intervention required</a:t>
            </a:r>
          </a:p>
          <a:p>
            <a:pPr/>
          </a:p>
          <a:p>
            <a:pPr>
              <a:defRPr b="1"/>
            </a:pPr>
            <a:r>
              <a:t>Business Intelligence</a:t>
            </a:r>
          </a:p>
          <a:p>
            <a:pPr lvl="1"/>
            <a:r>
              <a:t>Identify key drivers of customer loyalty and revenue</a:t>
            </a:r>
          </a:p>
          <a:p>
            <a:pPr lvl="1"/>
            <a:r>
              <a:t>Investigate customer behavior relationships</a:t>
            </a:r>
          </a:p>
          <a:p>
            <a:pPr lvl="1"/>
            <a:r>
              <a:t>Analyze competitor impacts on customer behavior</a:t>
            </a:r>
          </a:p>
          <a:p>
            <a:pPr lvl="1"/>
            <a:r>
              <a:t>Optimize operational metrics (wait times, satisfaction)</a:t>
            </a:r>
          </a:p>
          <a:p>
            <a:pPr/>
          </a:p>
          <a:p>
            <a:pPr>
              <a:defRPr b="1"/>
            </a:pPr>
            <a:r>
              <a:t>Scientific Quality Assurance</a:t>
            </a:r>
          </a:p>
          <a:p>
            <a:pPr lvl="1"/>
            <a:r>
              <a:t>Ensure proper statistical testing (p &lt; 0.05)</a:t>
            </a:r>
          </a:p>
          <a:p>
            <a:pPr lvl="1"/>
            <a:r>
              <a:t>Eliminate superficial correlational claims</a:t>
            </a:r>
          </a:p>
          <a:p>
            <a:pPr lvl="1"/>
            <a:r>
              <a:t>Maintain complete traceability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Applications Across Domains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Domain: Coffee Shop Chain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Customer Analytics</a:t>
            </a:r>
          </a:p>
          <a:p>
            <a:pPr lvl="1"/>
            <a:r>
              <a:t>Customer segmentation and lifetime value analysis</a:t>
            </a:r>
          </a:p>
          <a:p>
            <a:pPr lvl="1"/>
            <a:r>
              <a:t>Loyalty program effectiveness measurement</a:t>
            </a:r>
          </a:p>
          <a:p>
            <a:pPr lvl="1"/>
            <a:r>
              <a:t>Mobile app impact on retention</a:t>
            </a:r>
          </a:p>
          <a:p>
            <a:pPr/>
          </a:p>
          <a:p>
            <a:pPr>
              <a:defRPr b="1"/>
            </a:pPr>
            <a:r>
              <a:t>Operational Optimization</a:t>
            </a:r>
          </a:p>
          <a:p>
            <a:pPr lvl="1"/>
            <a:r>
              <a:t>Wait time optimization</a:t>
            </a:r>
          </a:p>
          <a:p>
            <a:pPr lvl="1"/>
            <a:r>
              <a:t>Geographic and seasonal pattern analysis</a:t>
            </a:r>
          </a:p>
          <a:p>
            <a:pPr lvl="1"/>
            <a:r>
              <a:t>Price sensitivity analysis</a:t>
            </a:r>
          </a:p>
          <a:p>
            <a:pPr/>
          </a:p>
          <a:p>
            <a:pPr>
              <a:defRPr b="1"/>
            </a:pPr>
            <a:r>
              <a:t>Competitive Intelligence</a:t>
            </a:r>
          </a:p>
          <a:p>
            <a:pPr lvl="1"/>
            <a:r>
              <a:t>Competitor activity influence on behavior</a:t>
            </a:r>
          </a:p>
          <a:p>
            <a:pPr lvl="1"/>
            <a:r>
              <a:t>Market dynamics and customer churn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Generalizable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Healthcare</a:t>
            </a:r>
          </a:p>
          <a:p>
            <a:pPr lvl="1"/>
            <a:r>
              <a:t>Patient outcome analysis, treatment effectiveness studies</a:t>
            </a:r>
          </a:p>
          <a:p>
            <a:pPr/>
          </a:p>
          <a:p>
            <a:pPr>
              <a:defRPr b="1"/>
            </a:pPr>
            <a:r>
              <a:t>Finance</a:t>
            </a:r>
          </a:p>
          <a:p>
            <a:pPr lvl="1"/>
            <a:r>
              <a:t>Investment pattern discovery, risk factor analysis</a:t>
            </a:r>
          </a:p>
          <a:p>
            <a:pPr/>
          </a:p>
          <a:p>
            <a:pPr>
              <a:defRPr b="1"/>
            </a:pPr>
            <a:r>
              <a:t>E-commerce</a:t>
            </a:r>
          </a:p>
          <a:p>
            <a:pPr lvl="1"/>
            <a:r>
              <a:t>User behavior analysis, conversion optimization</a:t>
            </a:r>
          </a:p>
          <a:p>
            <a:pPr/>
          </a:p>
          <a:p>
            <a:pPr>
              <a:defRPr b="1"/>
            </a:pPr>
            <a:r>
              <a:t>Academic Research</a:t>
            </a:r>
          </a:p>
          <a:p>
            <a:pPr lvl="1"/>
            <a:r>
              <a:t>Automated literature review + data synthesis</a:t>
            </a:r>
          </a:p>
          <a:p>
            <a:pPr/>
          </a:p>
          <a:p>
            <a:pPr>
              <a:defRPr b="1"/>
            </a:pPr>
            <a:r>
              <a:t>Manufacturing</a:t>
            </a:r>
          </a:p>
          <a:p>
            <a:pPr lvl="1"/>
            <a:r>
              <a:t>Quality control, process optimization</a:t>
            </a:r>
          </a:p>
          <a:p>
            <a:pPr/>
          </a:p>
          <a:p>
            <a:pPr>
              <a:defRPr b="1"/>
            </a:pPr>
            <a:r>
              <a:t>Marketing</a:t>
            </a:r>
          </a:p>
          <a:p>
            <a:pPr lvl="1"/>
            <a:r>
              <a:t>Campaign effectiveness, customer segmentation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Modern AI and Data Science Tools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AI/ML Layer</a:t>
            </a:r>
          </a:p>
          <a:p>
            <a:pPr lvl="1"/>
            <a:r>
              <a:t>OpenAI GPT-3.5-turbo for question generation and synthesis</a:t>
            </a:r>
          </a:p>
          <a:p>
            <a:pPr lvl="1"/>
            <a:r>
              <a:t>LLM-driven code generation with self-correction</a:t>
            </a:r>
          </a:p>
          <a:p>
            <a:pPr/>
          </a:p>
          <a:p>
            <a:pPr>
              <a:defRPr b="1"/>
            </a:pPr>
            <a:r>
              <a:t>Data Science Stack</a:t>
            </a:r>
          </a:p>
          <a:p>
            <a:pPr lvl="1"/>
            <a:r>
              <a:t>pandas (&gt;=2.0.0), numpy (&gt;=1.24.0)</a:t>
            </a:r>
          </a:p>
          <a:p>
            <a:pPr lvl="1"/>
            <a:r>
              <a:t>scipy (&gt;=1.10.0), scikit-learn (&gt;=1.3.0)</a:t>
            </a:r>
          </a:p>
          <a:p>
            <a:pPr lvl="1"/>
            <a:r>
              <a:t>statsmodels (&gt;=0.14.0), pingouin (&gt;=0.5.3)</a:t>
            </a:r>
          </a:p>
          <a:p>
            <a:pPr/>
          </a:p>
          <a:p>
            <a:pPr>
              <a:defRPr b="1"/>
            </a:pPr>
            <a:r>
              <a:t>Visualization</a:t>
            </a:r>
          </a:p>
          <a:p>
            <a:pPr lvl="1"/>
            <a:r>
              <a:t>matplotlib (&gt;=3.7.0), seaborn (&gt;=0.12.0)</a:t>
            </a:r>
          </a:p>
          <a:p>
            <a:pPr/>
          </a:p>
          <a:p>
            <a:pPr>
              <a:defRPr b="1"/>
            </a:pPr>
            <a:r>
              <a:t>User Interface</a:t>
            </a:r>
          </a:p>
          <a:p>
            <a:pPr lvl="1"/>
            <a:r>
              <a:t>Streamlit (&gt;=1.28.0) - Web-based interactive interface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Safety &amp; Reliability</a:t>
            </a:r>
          </a:p>
          <a:p>
            <a:pPr lvl="1"/>
            <a:r>
              <a:t>Safe code execution with retry logic (3 attempts)</a:t>
            </a:r>
          </a:p>
          <a:p>
            <a:pPr lvl="1"/>
            <a:r>
              <a:t>Data sanitization for statistical tests</a:t>
            </a:r>
          </a:p>
          <a:p>
            <a:pPr lvl="1"/>
            <a:r>
              <a:t>Timeout protection (300 seconds per analysis)</a:t>
            </a:r>
          </a:p>
          <a:p>
            <a:pPr/>
          </a:p>
          <a:p>
            <a:pPr>
              <a:defRPr b="1"/>
            </a:pPr>
            <a:r>
              <a:t>Performance</a:t>
            </a:r>
          </a:p>
          <a:p>
            <a:pPr lvl="1"/>
            <a:r>
              <a:t>Handles datasets up to ~5GB</a:t>
            </a:r>
          </a:p>
          <a:p>
            <a:pPr lvl="1"/>
            <a:r>
              <a:t>Generates reports in &lt; 1 second</a:t>
            </a:r>
          </a:p>
          <a:p>
            <a:pPr lvl="1"/>
            <a:r>
              <a:t>15-minute cache for web fetching</a:t>
            </a:r>
          </a:p>
          <a:p>
            <a:pPr/>
          </a:p>
          <a:p>
            <a:pPr>
              <a:defRPr b="1"/>
            </a:pPr>
            <a:r>
              <a:t>State Management</a:t>
            </a:r>
          </a:p>
          <a:p>
            <a:pPr lvl="1"/>
            <a:r>
              <a:t>Persistent world model state across sessions</a:t>
            </a:r>
          </a:p>
          <a:p>
            <a:pPr lvl="1"/>
            <a:r>
              <a:t>Resume capability from any cycle</a:t>
            </a:r>
          </a:p>
          <a:p>
            <a:pPr lvl="1"/>
            <a:r>
              <a:t>Complete history tracking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Makes Agentic Insights Unique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Sets Us Apart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1. True Autonomy</a:t>
            </a:r>
          </a:p>
          <a:p>
            <a:pPr lvl="1"/>
            <a:r>
              <a:t>Runs 10-20+ cycles without human intervention</a:t>
            </a:r>
          </a:p>
          <a:p>
            <a:pPr/>
          </a:p>
          <a:p>
            <a:pPr>
              <a:defRPr b="1"/>
            </a:pPr>
            <a:r>
              <a:t>2. Scientific Rigor</a:t>
            </a:r>
          </a:p>
          <a:p>
            <a:pPr lvl="1"/>
            <a:r>
              <a:t>Automatic statistical extraction, not just narratives</a:t>
            </a:r>
          </a:p>
          <a:p>
            <a:pPr/>
          </a:p>
          <a:p>
            <a:pPr>
              <a:defRPr b="1"/>
            </a:pPr>
            <a:r>
              <a:t>3. Dual Evidence Approach</a:t>
            </a:r>
          </a:p>
          <a:p>
            <a:pPr lvl="1"/>
            <a:r>
              <a:t>Combines data analysis + literature review</a:t>
            </a:r>
          </a:p>
          <a:p>
            <a:pPr/>
          </a:p>
          <a:p>
            <a:pPr>
              <a:defRPr b="1"/>
            </a:pPr>
            <a:r>
              <a:t>4. Iterative Learning</a:t>
            </a:r>
          </a:p>
          <a:p>
            <a:pPr lvl="1"/>
            <a:r>
              <a:t>Each cycle builds on previous discoveries</a:t>
            </a:r>
          </a:p>
          <a:p>
            <a:pPr/>
          </a:p>
          <a:p>
            <a:pPr>
              <a:defRPr b="1"/>
            </a:pPr>
            <a:r>
              <a:t>5. Complete Traceability</a:t>
            </a:r>
          </a:p>
          <a:p>
            <a:pPr lvl="1"/>
            <a:r>
              <a:t>Full audit trail from data to insights</a:t>
            </a:r>
          </a:p>
          <a:p>
            <a:pPr/>
          </a:p>
          <a:p>
            <a:pPr>
              <a:defRPr b="1"/>
            </a:pPr>
            <a:r>
              <a:t>6. Production Ready</a:t>
            </a:r>
          </a:p>
          <a:p>
            <a:pPr lvl="1"/>
            <a:r>
              <a:t>Web UI, error handling, logging, state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Cycle 1: Initial Exploration</a:t>
            </a:r>
          </a:p>
          <a:p>
            <a:pPr lvl="1"/>
            <a:r>
              <a:t>Question: What factors influence customer retention?</a:t>
            </a:r>
          </a:p>
          <a:p>
            <a:pPr lvl="1"/>
            <a:r>
              <a:t>Analysis: Correlation between visits and loyalty status</a:t>
            </a:r>
          </a:p>
          <a:p>
            <a:pPr lvl="1"/>
            <a:r>
              <a:t>Discovery: Loyalty members visit 2.3x more often (p&lt;0.001)</a:t>
            </a:r>
          </a:p>
          <a:p>
            <a:pPr/>
          </a:p>
          <a:p>
            <a:pPr>
              <a:defRPr b="1"/>
            </a:pPr>
            <a:r>
              <a:t>Cycle 2: Building on Discovery</a:t>
            </a:r>
          </a:p>
          <a:p>
            <a:pPr lvl="1"/>
            <a:r>
              <a:t>Question: Does mobile app usage affect loyalty?</a:t>
            </a:r>
          </a:p>
          <a:p>
            <a:pPr lvl="1"/>
            <a:r>
              <a:t>Analysis: App users vs non-app users comparison</a:t>
            </a:r>
          </a:p>
          <a:p>
            <a:pPr lvl="1"/>
            <a:r>
              <a:t>Discovery: App users have 35% higher retention</a:t>
            </a:r>
          </a:p>
          <a:p>
            <a:pPr/>
          </a:p>
          <a:p>
            <a:pPr>
              <a:defRPr b="1"/>
            </a:pPr>
            <a:r>
              <a:t>Cycle 3: Deeper Investigation</a:t>
            </a:r>
          </a:p>
          <a:p>
            <a:pPr lvl="1"/>
            <a:r>
              <a:t>Question: What drives app adoption?</a:t>
            </a:r>
          </a:p>
          <a:p>
            <a:pPr lvl="1"/>
            <a:r>
              <a:t>Analysis: Demographics and behavior patterns</a:t>
            </a:r>
          </a:p>
          <a:p>
            <a:pPr lvl="1"/>
            <a:r>
              <a:t>Discovery: Age &lt; 40 and urban location predict adoption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Codebase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Scale &amp; Complexity</a:t>
            </a:r>
          </a:p>
          <a:p>
            <a:pPr lvl="1"/>
            <a:r>
              <a:t>~25 Python files totaling 6,700+ lines of code</a:t>
            </a:r>
          </a:p>
          <a:p>
            <a:pPr lvl="1"/>
            <a:r>
              <a:t>4 specialized agents + orchestrator + UI</a:t>
            </a:r>
          </a:p>
          <a:p>
            <a:pPr lvl="1"/>
            <a:r>
              <a:t>4 comprehensive markdown documentation guides</a:t>
            </a:r>
          </a:p>
          <a:p>
            <a:pPr/>
          </a:p>
          <a:p>
            <a:pPr>
              <a:defRPr b="1"/>
            </a:pPr>
            <a:r>
              <a:t>Data &amp; Knowledge</a:t>
            </a:r>
          </a:p>
          <a:p>
            <a:pPr lvl="1"/>
            <a:r>
              <a:t>Sample dataset: 4,992 customer records with 9+ attributes</a:t>
            </a:r>
          </a:p>
          <a:p>
            <a:pPr lvl="1"/>
            <a:r>
              <a:t>Literature database: 8 research papers with metadata</a:t>
            </a:r>
          </a:p>
          <a:p>
            <a:pPr/>
          </a:p>
          <a:p>
            <a:pPr>
              <a:defRPr b="1"/>
            </a:pPr>
            <a:r>
              <a:t>Code Organization</a:t>
            </a:r>
          </a:p>
          <a:p>
            <a:pPr lvl="1"/>
            <a:r>
              <a:t>agents/ - Specialized agent modules</a:t>
            </a:r>
          </a:p>
          <a:p>
            <a:pPr lvl="1"/>
            <a:r>
              <a:t>data/ - CSV datasets and generators</a:t>
            </a:r>
          </a:p>
          <a:p>
            <a:pPr lvl="1"/>
            <a:r>
              <a:t>knowledge/ - Literature database</a:t>
            </a:r>
          </a:p>
          <a:p>
            <a:pPr lvl="1"/>
            <a:r>
              <a:t>outputs/ - Generated analyses and reports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Highly Configurable System</a:t>
            </a:r>
          </a:p>
          <a:p>
            <a:pPr lvl="1"/>
            <a:r>
              <a:t>config.py for central configuration</a:t>
            </a:r>
          </a:p>
          <a:p>
            <a:pPr lvl="1"/>
            <a:r>
              <a:t>Customizable research objectives</a:t>
            </a:r>
          </a:p>
          <a:p>
            <a:pPr lvl="1"/>
            <a:r>
              <a:t>Adjustable cycle counts and parallel tasks</a:t>
            </a:r>
          </a:p>
          <a:p>
            <a:pPr lvl="1"/>
            <a:r>
              <a:t>Temperature settings for LLM creativity</a:t>
            </a:r>
          </a:p>
          <a:p>
            <a:pPr/>
          </a:p>
          <a:p>
            <a:pPr>
              <a:defRPr b="1"/>
            </a:pPr>
            <a:r>
              <a:t>Multi-Project Support</a:t>
            </a:r>
          </a:p>
          <a:p>
            <a:pPr lvl="1"/>
            <a:r>
              <a:t>Multiple base directory support</a:t>
            </a:r>
          </a:p>
          <a:p>
            <a:pPr lvl="1"/>
            <a:r>
              <a:t>Project-specific configurations</a:t>
            </a:r>
          </a:p>
          <a:p>
            <a:pPr/>
          </a:p>
          <a:p>
            <a:pPr>
              <a:defRPr b="1"/>
            </a:pPr>
            <a:r>
              <a:t>Extensible Architecture</a:t>
            </a:r>
          </a:p>
          <a:p>
            <a:pPr lvl="1"/>
            <a:r>
              <a:t>Easy to add new agents</a:t>
            </a:r>
          </a:p>
          <a:p>
            <a:pPr lvl="1"/>
            <a:r>
              <a:t>Custom statistical tests can be integrated</a:t>
            </a:r>
          </a:p>
          <a:p>
            <a:pPr lvl="1"/>
            <a:r>
              <a:t>Pluggable literature sources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Enhanced Capabilities</a:t>
            </a:r>
          </a:p>
          <a:p>
            <a:pPr lvl="1"/>
            <a:r>
              <a:t>Integration with more data sources</a:t>
            </a:r>
          </a:p>
          <a:p>
            <a:pPr lvl="1"/>
            <a:r>
              <a:t>Advanced causal inference methods</a:t>
            </a:r>
          </a:p>
          <a:p>
            <a:pPr lvl="1"/>
            <a:r>
              <a:t>Real-time data processing</a:t>
            </a:r>
          </a:p>
          <a:p>
            <a:pPr/>
          </a:p>
          <a:p>
            <a:pPr>
              <a:defRPr b="1"/>
            </a:pPr>
            <a:r>
              <a:t>Expanded Applications</a:t>
            </a:r>
          </a:p>
          <a:p>
            <a:pPr lvl="1"/>
            <a:r>
              <a:t>Domain-specific agent libraries</a:t>
            </a:r>
          </a:p>
          <a:p>
            <a:pPr lvl="1"/>
            <a:r>
              <a:t>Multi-modal data analysis (text, images, time-series)</a:t>
            </a:r>
          </a:p>
          <a:p>
            <a:pPr lvl="1"/>
            <a:r>
              <a:t>Collaborative multi-agent scenarios</a:t>
            </a:r>
          </a:p>
          <a:p>
            <a:pPr/>
          </a:p>
          <a:p>
            <a:pPr>
              <a:defRPr b="1"/>
            </a:pPr>
            <a:r>
              <a:t>Performance &amp; Scale</a:t>
            </a:r>
          </a:p>
          <a:p>
            <a:pPr lvl="1"/>
            <a:r>
              <a:t>Distributed computing for larger datasets</a:t>
            </a:r>
          </a:p>
          <a:p>
            <a:pPr lvl="1"/>
            <a:r>
              <a:t>GPU acceleration for statistical computations</a:t>
            </a:r>
          </a:p>
          <a:p>
            <a:pPr lvl="1"/>
            <a:r>
              <a:t>Enhanced caching and incremental processing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Installation</a:t>
            </a:r>
          </a:p>
          <a:p>
            <a:pPr lvl="1"/>
            <a:r>
              <a:t>pip install -r requirements.txt</a:t>
            </a:r>
          </a:p>
          <a:p>
            <a:pPr lvl="1"/>
            <a:r>
              <a:t>Configure OpenAI API key</a:t>
            </a:r>
          </a:p>
          <a:p>
            <a:pPr/>
          </a:p>
          <a:p>
            <a:pPr>
              <a:defRPr b="1"/>
            </a:pPr>
            <a:r>
              <a:t>Quick Start</a:t>
            </a:r>
          </a:p>
          <a:p>
            <a:pPr lvl="1"/>
            <a:r>
              <a:t>streamlit run streamlit_app_ULTIMATE.py</a:t>
            </a:r>
          </a:p>
          <a:p>
            <a:pPr lvl="1"/>
            <a:r>
              <a:t>Load your dataset</a:t>
            </a:r>
          </a:p>
          <a:p>
            <a:pPr lvl="1"/>
            <a:r>
              <a:t>Define research objectives</a:t>
            </a:r>
          </a:p>
          <a:p>
            <a:pPr lvl="1"/>
            <a:r>
              <a:t>Run autonomous discovery</a:t>
            </a:r>
          </a:p>
          <a:p>
            <a:pPr/>
          </a:p>
          <a:p>
            <a:pPr>
              <a:defRPr b="1"/>
            </a:pPr>
            <a:r>
              <a:t>Documentation</a:t>
            </a:r>
          </a:p>
          <a:p>
            <a:pPr lvl="1"/>
            <a:r>
              <a:t>README.md - Overview and setup</a:t>
            </a:r>
          </a:p>
          <a:p>
            <a:pPr lvl="1"/>
            <a:r>
              <a:t>docs/ - Detailed architecture guides</a:t>
            </a:r>
          </a:p>
          <a:p>
            <a:pPr lvl="1"/>
            <a:r>
              <a:t>examples/ - Sample analyses and outputs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Revolutionary Approach to Data Science</a:t>
            </a:r>
          </a:p>
          <a:p>
            <a:pPr lvl="1"/>
            <a:r>
              <a:t>Combines autonomy with scientific rigor</a:t>
            </a:r>
          </a:p>
          <a:p>
            <a:pPr lvl="1"/>
            <a:r>
              <a:t>Reduces time from hypothesis to insight from weeks to hours</a:t>
            </a:r>
          </a:p>
          <a:p>
            <a:pPr/>
          </a:p>
          <a:p>
            <a:pPr>
              <a:defRPr b="1"/>
            </a:pPr>
            <a:r>
              <a:t>Production-Ready System</a:t>
            </a:r>
          </a:p>
          <a:p>
            <a:pPr lvl="1"/>
            <a:r>
              <a:t>Comprehensive error handling and logging</a:t>
            </a:r>
          </a:p>
          <a:p>
            <a:pPr lvl="1"/>
            <a:r>
              <a:t>User-friendly interface with Streamlit</a:t>
            </a:r>
          </a:p>
          <a:p>
            <a:pPr lvl="1"/>
            <a:r>
              <a:t>Scalable architecture for various domains</a:t>
            </a:r>
          </a:p>
          <a:p>
            <a:pPr/>
          </a:p>
          <a:p>
            <a:pPr>
              <a:defRPr b="1"/>
            </a:pPr>
            <a:r>
              <a:t>Continuous Innovation</a:t>
            </a:r>
          </a:p>
          <a:p>
            <a:pPr lvl="1"/>
            <a:r>
              <a:t>Based on latest research (Kosmos framework)</a:t>
            </a:r>
          </a:p>
          <a:p>
            <a:pPr lvl="1"/>
            <a:r>
              <a:t>Active development and improvements</a:t>
            </a:r>
          </a:p>
          <a:p>
            <a:pPr lvl="1"/>
            <a:r>
              <a:t>Extensible for future capabilities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Explore the codebase and documentation for more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