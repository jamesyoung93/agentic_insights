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3864"/>
                </a:solidFill>
                <a:latin typeface="Calibri"/>
              </a:defRPr>
            </a:pPr>
            <a:r>
              <a:t>Data to Discovery: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i="1">
                <a:solidFill>
                  <a:srgbClr val="212121"/>
                </a:solidFill>
                <a:latin typeface="Calibri"/>
              </a:defRPr>
            </a:pPr>
            <a:r>
              <a:t>Autonomous discovery through statistical analysis, agent orchestration, and LLM synthesis</a:t>
            </a:r>
          </a:p>
        </p:txBody>
      </p:sp>
      <p:sp>
        <p:nvSpPr>
          <p:cNvPr id="4" name="Can 3"/>
          <p:cNvSpPr/>
          <p:nvPr/>
        </p:nvSpPr>
        <p:spPr>
          <a:xfrm>
            <a:off x="365760" y="1097280"/>
            <a:ext cx="1828800" cy="594360"/>
          </a:xfrm>
          <a:prstGeom prst="can">
            <a:avLst/>
          </a:prstGeom>
          <a:solidFill>
            <a:srgbClr val="B0C4D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CSV Data</a:t>
            </a:r>
          </a:p>
        </p:txBody>
      </p:sp>
      <p:sp>
        <p:nvSpPr>
          <p:cNvPr id="5" name="Can 4"/>
          <p:cNvSpPr/>
          <p:nvPr/>
        </p:nvSpPr>
        <p:spPr>
          <a:xfrm>
            <a:off x="365760" y="1965960"/>
            <a:ext cx="1828800" cy="594360"/>
          </a:xfrm>
          <a:prstGeom prst="can">
            <a:avLst/>
          </a:prstGeom>
          <a:solidFill>
            <a:srgbClr val="B0C4D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Literature</a:t>
            </a:r>
          </a:p>
          <a:p>
            <a:r>
              <a:t>Store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365760" y="2834640"/>
            <a:ext cx="1828800" cy="594360"/>
          </a:xfrm>
          <a:prstGeom prst="parallelogram">
            <a:avLst/>
          </a:prstGeom>
          <a:solidFill>
            <a:srgbClr val="BDBDBD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Config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097280"/>
            <a:ext cx="1828800" cy="594360"/>
          </a:xfrm>
          <a:prstGeom prst="roundRect">
            <a:avLst/>
          </a:prstGeom>
          <a:solidFill>
            <a:srgbClr val="90A4A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Streamlit</a:t>
            </a:r>
          </a:p>
          <a:p>
            <a:r>
              <a:t>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834640"/>
            <a:ext cx="1828800" cy="594360"/>
          </a:xfrm>
          <a:prstGeom prst="roundRect">
            <a:avLst/>
          </a:prstGeom>
          <a:solidFill>
            <a:srgbClr val="90A4A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Kosmos</a:t>
            </a:r>
          </a:p>
          <a:p>
            <a:r>
              <a:t>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97280"/>
            <a:ext cx="1828800" cy="594360"/>
          </a:xfrm>
          <a:prstGeom prst="roundRect">
            <a:avLst/>
          </a:prstGeom>
          <a:solidFill>
            <a:srgbClr val="90A4A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Data</a:t>
            </a:r>
          </a:p>
          <a:p>
            <a:r>
              <a:t>Analyst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65960"/>
            <a:ext cx="1828800" cy="594360"/>
          </a:xfrm>
          <a:prstGeom prst="roundRect">
            <a:avLst/>
          </a:prstGeom>
          <a:solidFill>
            <a:srgbClr val="90A4A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Literature</a:t>
            </a:r>
          </a:p>
          <a:p>
            <a:r>
              <a:t>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834640"/>
            <a:ext cx="1828800" cy="594360"/>
          </a:xfrm>
          <a:prstGeom prst="roundRect">
            <a:avLst/>
          </a:prstGeom>
          <a:solidFill>
            <a:srgbClr val="90A4A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World</a:t>
            </a:r>
          </a:p>
          <a:p>
            <a:r>
              <a:t>Model</a:t>
            </a:r>
          </a:p>
        </p:txBody>
      </p:sp>
      <p:sp>
        <p:nvSpPr>
          <p:cNvPr id="12" name="Hexagon 11"/>
          <p:cNvSpPr/>
          <p:nvPr/>
        </p:nvSpPr>
        <p:spPr>
          <a:xfrm>
            <a:off x="6263640" y="1965960"/>
            <a:ext cx="1828800" cy="594360"/>
          </a:xfrm>
          <a:prstGeom prst="hexagon">
            <a:avLst/>
          </a:prstGeom>
          <a:solidFill>
            <a:srgbClr val="FF9800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OpenAI</a:t>
            </a:r>
          </a:p>
          <a:p>
            <a:r>
              <a:t>API</a:t>
            </a:r>
          </a:p>
        </p:txBody>
      </p:sp>
      <p:sp>
        <p:nvSpPr>
          <p:cNvPr id="13" name="Can 12"/>
          <p:cNvSpPr/>
          <p:nvPr/>
        </p:nvSpPr>
        <p:spPr>
          <a:xfrm>
            <a:off x="8229600" y="2834640"/>
            <a:ext cx="1828800" cy="594360"/>
          </a:xfrm>
          <a:prstGeom prst="can">
            <a:avLst/>
          </a:prstGeom>
          <a:solidFill>
            <a:srgbClr val="B0C4D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World Model</a:t>
            </a:r>
          </a:p>
          <a:p>
            <a:r>
              <a:t>JSON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10195560" y="1965960"/>
            <a:ext cx="1828800" cy="594360"/>
          </a:xfrm>
          <a:prstGeom prst="parallelogram">
            <a:avLst/>
          </a:prstGeom>
          <a:solidFill>
            <a:srgbClr val="BDBDBD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Enhanced</a:t>
            </a:r>
          </a:p>
          <a:p>
            <a:r>
              <a:t>Report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10195560" y="2834640"/>
            <a:ext cx="1828800" cy="594360"/>
          </a:xfrm>
          <a:prstGeom prst="parallelogram">
            <a:avLst/>
          </a:prstGeom>
          <a:solidFill>
            <a:srgbClr val="BDBDBD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Analysis</a:t>
            </a:r>
          </a:p>
          <a:p>
            <a:r>
              <a:t>Code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.0" y="1394460.0"/>
            <a:ext cx="1965960.0" cy="0.0"/>
          </a:xfrm>
          <a:prstGeom prst="line">
            <a:avLst/>
          </a:prstGeom>
          <a:ln w="25400">
            <a:solidFill>
              <a:srgbClr val="42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0160.0" y="1394460.0"/>
            <a:ext cx="1965960.0" cy="1737360.0"/>
          </a:xfrm>
          <a:prstGeom prst="line">
            <a:avLst/>
          </a:prstGeom>
          <a:ln w="25400">
            <a:solidFill>
              <a:srgbClr val="42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46120.0" y="1394460.0"/>
            <a:ext cx="1965960.0" cy="0.0"/>
          </a:xfrm>
          <a:prstGeom prst="line">
            <a:avLst/>
          </a:prstGeom>
          <a:ln w="25400">
            <a:solidFill>
              <a:srgbClr val="42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46120.0" y="1394460.0"/>
            <a:ext cx="1965960.0" cy="1737360.0"/>
          </a:xfrm>
          <a:prstGeom prst="line">
            <a:avLst/>
          </a:prstGeom>
          <a:ln w="25400">
            <a:solidFill>
              <a:srgbClr val="42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12080.0" y="1394460.0"/>
            <a:ext cx="1965960.0" cy="868680.0"/>
          </a:xfrm>
          <a:prstGeom prst="line">
            <a:avLst/>
          </a:prstGeom>
          <a:ln w="25400">
            <a:solidFill>
              <a:srgbClr val="42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12080.0" y="1394460.0"/>
            <a:ext cx="0.0" cy="1737360.0"/>
          </a:xfrm>
          <a:prstGeom prst="line">
            <a:avLst/>
          </a:prstGeom>
          <a:ln w="25400">
            <a:solidFill>
              <a:srgbClr val="42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12080.0" y="2263140.0"/>
            <a:ext cx="1965960.0" cy="0.0"/>
          </a:xfrm>
          <a:prstGeom prst="line">
            <a:avLst/>
          </a:prstGeom>
          <a:ln w="25400">
            <a:solidFill>
              <a:srgbClr val="42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12080.0" y="2263140.0"/>
            <a:ext cx="0.0" cy="868680.0"/>
          </a:xfrm>
          <a:prstGeom prst="line">
            <a:avLst/>
          </a:prstGeom>
          <a:ln w="25400">
            <a:solidFill>
              <a:srgbClr val="42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212080.0" y="3131820.0"/>
            <a:ext cx="3931920.0" cy="0.0"/>
          </a:xfrm>
          <a:prstGeom prst="line">
            <a:avLst/>
          </a:prstGeom>
          <a:ln w="25400">
            <a:solidFill>
              <a:srgbClr val="42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212080.0" y="2263140.0"/>
            <a:ext cx="5897880.0" cy="868680.0"/>
          </a:xfrm>
          <a:prstGeom prst="line">
            <a:avLst/>
          </a:prstGeom>
          <a:ln w="25400">
            <a:solidFill>
              <a:srgbClr val="42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12080.0" y="1394460.0"/>
            <a:ext cx="5897880.0" cy="1737360.0"/>
          </a:xfrm>
          <a:prstGeom prst="line">
            <a:avLst/>
          </a:prstGeom>
          <a:ln w="25400">
            <a:solidFill>
              <a:srgbClr val="42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80160.0" y="2263140.0"/>
            <a:ext cx="3931920.0" cy="0.0"/>
          </a:xfrm>
          <a:prstGeom prst="line">
            <a:avLst/>
          </a:prstGeom>
          <a:ln w="25400">
            <a:solidFill>
              <a:srgbClr val="42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01200" y="50292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  <a:latin typeface="Calibri"/>
              </a:defRPr>
            </a:pPr>
            <a:r>
              <a:t>Legend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349240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alibri"/>
              </a:defRPr>
            </a:pPr>
            <a:r>
              <a:rPr sz="1800" b="1">
                <a:solidFill>
                  <a:srgbClr val="B0C4DE"/>
                </a:solidFill>
              </a:rPr>
              <a:t>■ Datastore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5595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alibri"/>
              </a:defRPr>
            </a:pPr>
            <a:r>
              <a:rPr sz="1800" b="1">
                <a:solidFill>
                  <a:srgbClr val="90A4AE"/>
                </a:solidFill>
              </a:rPr>
              <a:t>■ Service/Module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5769864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alibri"/>
              </a:defRPr>
            </a:pPr>
            <a:r>
              <a:rPr sz="1800" b="1">
                <a:solidFill>
                  <a:srgbClr val="FF9800"/>
                </a:solidFill>
              </a:rPr>
              <a:t>■ External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980176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alibri"/>
              </a:defRPr>
            </a:pPr>
            <a:r>
              <a:rPr sz="1800" b="1">
                <a:solidFill>
                  <a:srgbClr val="BDBDBD"/>
                </a:solidFill>
              </a:rPr>
              <a:t>■ Input/Output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28192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alibri"/>
              </a:defRPr>
            </a:pPr>
            <a:r>
              <a:t>─── Verified link</a:t>
            </a:r>
          </a:p>
          <a:p>
            <a:r>
              <a:t>- - - Optional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