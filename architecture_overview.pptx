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1138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2060"/>
                </a:solidFill>
                <a:latin typeface="Calibri"/>
              </a:rPr>
              <a:t>System Architecture: How Agentic Insights Produces Autonomous Discoveries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  <a:latin typeface="Calibri"/>
              </a:rPr>
              <a:t>Multi-cycle discovery engine combining statistical rigor with optional LLM intelligence to generate evidence-backed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DATA SOURCES</a:t>
            </a:r>
          </a:p>
        </p:txBody>
      </p:sp>
      <p:sp>
        <p:nvSpPr>
          <p:cNvPr id="5" name="Can 4"/>
          <p:cNvSpPr/>
          <p:nvPr/>
        </p:nvSpPr>
        <p:spPr>
          <a:xfrm>
            <a:off x="822960" y="2011680"/>
            <a:ext cx="914400" cy="64008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Calibri"/>
              </a:rPr>
              <a:t>CSV Files</a:t>
            </a:r>
          </a:p>
          <a:p>
            <a:pPr algn="ctr"/>
            <a:r>
              <a:rPr sz="1000" b="1" dirty="0">
                <a:solidFill>
                  <a:srgbClr val="404040"/>
                </a:solidFill>
                <a:latin typeface="Calibri"/>
              </a:rPr>
              <a:t>(customers,</a:t>
            </a:r>
          </a:p>
          <a:p>
            <a:pPr algn="ctr"/>
            <a:r>
              <a:rPr sz="1000" b="1" dirty="0">
                <a:solidFill>
                  <a:srgbClr val="404040"/>
                </a:solidFill>
                <a:latin typeface="Calibri"/>
              </a:rPr>
              <a:t>competitor)</a:t>
            </a:r>
          </a:p>
        </p:txBody>
      </p:sp>
      <p:sp>
        <p:nvSpPr>
          <p:cNvPr id="6" name="Can 5"/>
          <p:cNvSpPr/>
          <p:nvPr/>
        </p:nvSpPr>
        <p:spPr>
          <a:xfrm>
            <a:off x="1828800" y="2011680"/>
            <a:ext cx="914400" cy="64008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Literature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Knowledge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Base</a:t>
            </a:r>
          </a:p>
        </p:txBody>
      </p:sp>
      <p:sp>
        <p:nvSpPr>
          <p:cNvPr id="7" name="Hexagon 6"/>
          <p:cNvSpPr/>
          <p:nvPr/>
        </p:nvSpPr>
        <p:spPr>
          <a:xfrm>
            <a:off x="1188720" y="3017520"/>
            <a:ext cx="1097280" cy="457200"/>
          </a:xfrm>
          <a:prstGeom prst="hexagon">
            <a:avLst/>
          </a:prstGeom>
          <a:solidFill>
            <a:srgbClr val="FFF0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404040"/>
                </a:solidFill>
                <a:latin typeface="Calibri"/>
              </a:rPr>
              <a:t>LLM</a:t>
            </a:r>
            <a:r>
              <a:rPr sz="1000" b="1" dirty="0">
                <a:solidFill>
                  <a:srgbClr val="404040"/>
                </a:solidFill>
                <a:latin typeface="Calibri"/>
              </a:rPr>
              <a:t>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5544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PROCESSING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874520"/>
            <a:ext cx="256032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Streamlit UI &amp; Orchestration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514600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Generator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2514600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404040"/>
                </a:solidFill>
                <a:latin typeface="Calibri"/>
              </a:rPr>
              <a:t>Curated </a:t>
            </a:r>
            <a:r>
              <a:rPr sz="1000" b="1" dirty="0">
                <a:solidFill>
                  <a:srgbClr val="404040"/>
                </a:solidFill>
                <a:latin typeface="Calibri"/>
              </a:rPr>
              <a:t>Statistical</a:t>
            </a:r>
          </a:p>
          <a:p>
            <a:pPr algn="ctr"/>
            <a:r>
              <a:rPr sz="1000" b="1" dirty="0">
                <a:solidFill>
                  <a:srgbClr val="404040"/>
                </a:solidFill>
                <a:latin typeface="Calibri"/>
              </a:rPr>
              <a:t>Analysis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2990088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Literature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Search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990088"/>
            <a:ext cx="1097280" cy="384048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Discovery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Synthesizer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5544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STORAGE &amp; STATE</a:t>
            </a:r>
          </a:p>
        </p:txBody>
      </p:sp>
      <p:sp>
        <p:nvSpPr>
          <p:cNvPr id="15" name="Can 14"/>
          <p:cNvSpPr/>
          <p:nvPr/>
        </p:nvSpPr>
        <p:spPr>
          <a:xfrm>
            <a:off x="7132320" y="2194560"/>
            <a:ext cx="1463040" cy="731520"/>
          </a:xfrm>
          <a:prstGeom prst="can">
            <a:avLst/>
          </a:prstGeom>
          <a:solidFill>
            <a:srgbClr val="00206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World Model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(discoveries,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trajectories,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hypotheses)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23760" y="3108960"/>
            <a:ext cx="1280160" cy="365760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Report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5544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OUTPUTS</a:t>
            </a:r>
          </a:p>
        </p:txBody>
      </p:sp>
      <p:sp>
        <p:nvSpPr>
          <p:cNvPr id="18" name="Parallelogram 17"/>
          <p:cNvSpPr/>
          <p:nvPr/>
        </p:nvSpPr>
        <p:spPr>
          <a:xfrm>
            <a:off x="9692640" y="2011680"/>
            <a:ext cx="1828800" cy="45720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Interactive</a:t>
            </a:r>
          </a:p>
          <a:p>
            <a:pPr algn="ctr"/>
            <a:r>
              <a:rPr sz="1000" b="1">
                <a:solidFill>
                  <a:srgbClr val="404040"/>
                </a:solidFill>
                <a:latin typeface="Calibri"/>
              </a:rPr>
              <a:t>Dashboard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9692640" y="2606040"/>
            <a:ext cx="1828800" cy="45720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404040"/>
                </a:solidFill>
                <a:latin typeface="Calibri"/>
              </a:rPr>
              <a:t>Enhanced Report</a:t>
            </a: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6126480" y="2468880"/>
            <a:ext cx="1005840" cy="48006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63840" y="292608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cxnSpLocks/>
            <a:endCxn id="19" idx="5"/>
          </p:cNvCxnSpPr>
          <p:nvPr/>
        </p:nvCxnSpPr>
        <p:spPr>
          <a:xfrm flipV="1">
            <a:off x="8503920" y="2834640"/>
            <a:ext cx="1245870" cy="4572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cxnSpLocks/>
            <a:stCxn id="16" idx="3"/>
            <a:endCxn id="18" idx="5"/>
          </p:cNvCxnSpPr>
          <p:nvPr/>
        </p:nvCxnSpPr>
        <p:spPr>
          <a:xfrm flipV="1">
            <a:off x="8503920" y="2240280"/>
            <a:ext cx="1245870" cy="105156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cxnSpLocks/>
            <a:endCxn id="18" idx="5"/>
          </p:cNvCxnSpPr>
          <p:nvPr/>
        </p:nvCxnSpPr>
        <p:spPr>
          <a:xfrm>
            <a:off x="6126479" y="2103120"/>
            <a:ext cx="3623311" cy="13716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5760" y="3589097"/>
            <a:ext cx="18288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404040"/>
                </a:solidFill>
                <a:latin typeface="Calibri"/>
              </a:rPr>
              <a:t>LEGEND</a:t>
            </a:r>
          </a:p>
        </p:txBody>
      </p:sp>
      <p:sp>
        <p:nvSpPr>
          <p:cNvPr id="41" name="Can 40"/>
          <p:cNvSpPr/>
          <p:nvPr/>
        </p:nvSpPr>
        <p:spPr>
          <a:xfrm>
            <a:off x="457200" y="4032104"/>
            <a:ext cx="365760" cy="274320"/>
          </a:xfrm>
          <a:prstGeom prst="can">
            <a:avLst/>
          </a:prstGeom>
          <a:solidFill>
            <a:srgbClr val="C0C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/>
          </a:p>
        </p:txBody>
      </p:sp>
      <p:sp>
        <p:nvSpPr>
          <p:cNvPr id="42" name="TextBox 41"/>
          <p:cNvSpPr txBox="1"/>
          <p:nvPr/>
        </p:nvSpPr>
        <p:spPr>
          <a:xfrm>
            <a:off x="868680" y="4050392"/>
            <a:ext cx="109728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= Data Store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03120" y="4032104"/>
            <a:ext cx="365760" cy="274320"/>
          </a:xfrm>
          <a:prstGeom prst="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/>
          </a:p>
        </p:txBody>
      </p:sp>
      <p:sp>
        <p:nvSpPr>
          <p:cNvPr id="44" name="TextBox 43"/>
          <p:cNvSpPr txBox="1"/>
          <p:nvPr/>
        </p:nvSpPr>
        <p:spPr>
          <a:xfrm>
            <a:off x="2514600" y="4050392"/>
            <a:ext cx="13716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= Processing Module</a:t>
            </a:r>
          </a:p>
        </p:txBody>
      </p:sp>
      <p:sp>
        <p:nvSpPr>
          <p:cNvPr id="45" name="Hexagon 44"/>
          <p:cNvSpPr/>
          <p:nvPr/>
        </p:nvSpPr>
        <p:spPr>
          <a:xfrm>
            <a:off x="4114800" y="4032104"/>
            <a:ext cx="365760" cy="274320"/>
          </a:xfrm>
          <a:prstGeom prst="hexagon">
            <a:avLst/>
          </a:prstGeom>
          <a:solidFill>
            <a:srgbClr val="FFF0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/>
          </a:p>
        </p:txBody>
      </p:sp>
      <p:sp>
        <p:nvSpPr>
          <p:cNvPr id="46" name="TextBox 45"/>
          <p:cNvSpPr txBox="1"/>
          <p:nvPr/>
        </p:nvSpPr>
        <p:spPr>
          <a:xfrm>
            <a:off x="4526280" y="4050392"/>
            <a:ext cx="137160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= External System</a:t>
            </a:r>
          </a:p>
        </p:txBody>
      </p:sp>
      <p:sp>
        <p:nvSpPr>
          <p:cNvPr id="47" name="Parallelogram 46"/>
          <p:cNvSpPr/>
          <p:nvPr/>
        </p:nvSpPr>
        <p:spPr>
          <a:xfrm>
            <a:off x="5943600" y="4032104"/>
            <a:ext cx="365760" cy="274320"/>
          </a:xfrm>
          <a:prstGeom prst="parallelogram">
            <a:avLst/>
          </a:prstGeom>
          <a:solidFill>
            <a:srgbClr val="DCF0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1100"/>
          </a:p>
        </p:txBody>
      </p:sp>
      <p:sp>
        <p:nvSpPr>
          <p:cNvPr id="48" name="TextBox 47"/>
          <p:cNvSpPr txBox="1"/>
          <p:nvPr/>
        </p:nvSpPr>
        <p:spPr>
          <a:xfrm>
            <a:off x="6355080" y="3953820"/>
            <a:ext cx="109728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dirty="0">
                <a:solidFill>
                  <a:srgbClr val="404040"/>
                </a:solidFill>
                <a:latin typeface="Calibri"/>
              </a:rPr>
              <a:t>= Output Artifact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4863807"/>
            <a:ext cx="3931920" cy="160043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dirty="0">
                <a:solidFill>
                  <a:srgbClr val="404040"/>
                </a:solidFill>
                <a:latin typeface="Calibri"/>
              </a:rPr>
              <a:t>RUNTIME TRIGGER: User initiates discovery → System runs 1-20 cycles → Each cycle:</a:t>
            </a:r>
          </a:p>
          <a:p>
            <a:pPr algn="l"/>
            <a:r>
              <a:rPr sz="1400" b="0" dirty="0">
                <a:solidFill>
                  <a:srgbClr val="404040"/>
                </a:solidFill>
                <a:latin typeface="Calibri"/>
              </a:rPr>
              <a:t>1) Generates </a:t>
            </a:r>
            <a:r>
              <a:rPr lang="en-US" sz="1400" b="0" dirty="0">
                <a:solidFill>
                  <a:srgbClr val="404040"/>
                </a:solidFill>
                <a:latin typeface="Calibri"/>
              </a:rPr>
              <a:t>or takes user </a:t>
            </a:r>
            <a:r>
              <a:rPr sz="1400" b="0" dirty="0">
                <a:solidFill>
                  <a:srgbClr val="404040"/>
                </a:solidFill>
                <a:latin typeface="Calibri"/>
              </a:rPr>
              <a:t>questions  2) Runs statistical tests  3) Searches literature (optional)</a:t>
            </a:r>
          </a:p>
          <a:p>
            <a:pPr algn="l"/>
            <a:r>
              <a:rPr sz="1400" b="0" dirty="0">
                <a:solidFill>
                  <a:srgbClr val="404040"/>
                </a:solidFill>
                <a:latin typeface="Calibri"/>
              </a:rPr>
              <a:t>4) Synthesizes discoveries</a:t>
            </a:r>
            <a:r>
              <a:rPr lang="en-US" sz="1400" b="0" dirty="0">
                <a:solidFill>
                  <a:srgbClr val="404040"/>
                </a:solidFill>
                <a:latin typeface="Calibri"/>
              </a:rPr>
              <a:t>, weighs against world model</a:t>
            </a:r>
            <a:r>
              <a:rPr sz="1400" b="0" dirty="0">
                <a:solidFill>
                  <a:srgbClr val="404040"/>
                </a:solidFill>
                <a:latin typeface="Calibri"/>
              </a:rPr>
              <a:t>  5) Updates world model  6) Produces reports</a:t>
            </a:r>
            <a:r>
              <a:rPr lang="en-US" sz="1400" b="0" dirty="0">
                <a:solidFill>
                  <a:srgbClr val="404040"/>
                </a:solidFill>
                <a:latin typeface="Calibri"/>
              </a:rPr>
              <a:t> 7) accepts user feedback</a:t>
            </a:r>
            <a:endParaRPr sz="1400" b="0" dirty="0">
              <a:solidFill>
                <a:srgbClr val="404040"/>
              </a:solidFill>
              <a:latin typeface="Calibri"/>
            </a:endParaRPr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FE3CDF65-F8AE-83C6-C15B-07F55B7608B0}"/>
              </a:ext>
            </a:extLst>
          </p:cNvPr>
          <p:cNvSpPr/>
          <p:nvPr/>
        </p:nvSpPr>
        <p:spPr>
          <a:xfrm>
            <a:off x="2924991" y="2606040"/>
            <a:ext cx="502919" cy="6858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000" b="1"/>
          </a:p>
        </p:txBody>
      </p:sp>
      <p:cxnSp>
        <p:nvCxnSpPr>
          <p:cNvPr id="52" name="Connector 30">
            <a:extLst>
              <a:ext uri="{FF2B5EF4-FFF2-40B4-BE49-F238E27FC236}">
                <a16:creationId xmlns:a16="http://schemas.microsoft.com/office/drawing/2014/main" id="{C2AC0BDA-32EF-9A45-628B-56307D18D616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6149340" y="2948940"/>
            <a:ext cx="1074420" cy="34290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64B03F31-23B3-FF16-64D0-B46A0E029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855064"/>
            <a:ext cx="5931603" cy="17286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9875520" y="914400"/>
            <a:ext cx="201168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0" y="914400"/>
            <a:ext cx="256032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54880" y="914400"/>
            <a:ext cx="256032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0" y="914400"/>
            <a:ext cx="201168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solidFill>
            <a:srgbClr val="00206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Component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9144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9144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Key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91440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91440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23444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128016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 UI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23444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8920" y="12801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streamlit_app_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ULTIMATE.py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123444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00600" y="1280160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main(), run_discovery_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cycle()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123444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60920" y="1280160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User inputs,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CSV files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23444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21240" y="128016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Dashboard,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logs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82880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2920" y="187451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182880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88920" y="187451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world_model_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builder.py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0" y="182880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00600" y="187451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add_discovery(),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add_trajectory()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182880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60920" y="187451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Discovery/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trajectory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182880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21240" y="187451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world_model.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2316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24688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 Gen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0" y="242316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788920" y="246887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auto_enhanced_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report.py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242316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00600" y="246887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generate_enhanced_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242316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360920" y="246887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Discoveries,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trajectories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242316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921240" y="246887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auto_enhanced_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report.txt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017520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02920" y="306323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Stats Engine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301752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88920" y="306323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embedded in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streamlit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0" y="301752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00600" y="306323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perform_statistical_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analysis()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15200" y="3017520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60920" y="306323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DataFrame,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question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875520" y="3017520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921240" y="306323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p-values,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effect sizes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611879"/>
            <a:ext cx="228600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2920" y="365759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 Search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3611879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788920" y="365759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agents/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literature_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searcher.py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54880" y="3611879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800600" y="365759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search(),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_extract_insights()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0" y="3611879"/>
            <a:ext cx="256032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60920" y="3657599"/>
            <a:ext cx="24688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Query,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literature KB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75520" y="3611879"/>
            <a:ext cx="2011680" cy="548640"/>
          </a:xfrm>
          <a:prstGeom prst="rect">
            <a:avLst/>
          </a:prstGeom>
          <a:solidFill>
            <a:srgbClr val="FAFAFA"/>
          </a:solidFill>
          <a:ln>
            <a:solidFill>
              <a:srgbClr val="C0C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921240" y="3657599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Papers,</a:t>
            </a:r>
          </a:p>
          <a:p>
            <a:pPr algn="l"/>
            <a:r>
              <a:rPr sz="800" b="0">
                <a:solidFill>
                  <a:srgbClr val="404040"/>
                </a:solidFill>
                <a:latin typeface="Calibri"/>
              </a:rPr>
              <a:t>insights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4389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CRITICAL DEPENDENCIES: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Python 3.8+  • Streamlit (UI framework)  • SciPy/NumPy (statistical analysis)  • Pandas (data manipulation)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OpenAI API (optional, for LLM features)  • python-pptx (presentation generation)</a:t>
            </a:r>
          </a:p>
          <a:p>
            <a:pPr algn="l"/>
            <a:endParaRPr sz="900" b="0">
              <a:solidFill>
                <a:srgbClr val="404040"/>
              </a:solidFill>
              <a:latin typeface="Calibri"/>
            </a:endParaRP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DEPLOYMENT: Runs locally or containerized (Docker). No cloud infrastructure required for core functionality.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Primary 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404040"/>
                </a:solidFill>
                <a:latin typeface="Calibri"/>
              </a:rPr>
              <a:t>End-to-end flow: User initiates discovery → System autonomously generates insights → Reports 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365760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1. User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417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Configure objective, API key (optional), # cycles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57600" y="182880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828800" y="2011680"/>
            <a:ext cx="3657600" cy="457200"/>
          </a:xfrm>
          <a:prstGeom prst="roundRect">
            <a:avLst/>
          </a:prstGeom>
          <a:solidFill>
            <a:srgbClr val="6496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2. Data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0574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Load CSV files or generate sample data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46888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28800" y="2651760"/>
            <a:ext cx="3657600" cy="457200"/>
          </a:xfrm>
          <a:prstGeom prst="roundRect">
            <a:avLst/>
          </a:prstGeom>
          <a:solidFill>
            <a:srgbClr val="5082B4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3. Discovery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69747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For each cycle (1-20):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57600" y="3108960"/>
            <a:ext cx="0" cy="182879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0" y="329183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3a. Generate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33755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LLM or predefined research questions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3749039"/>
            <a:ext cx="0" cy="182881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828800" y="3931920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3b. Run Statistical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97763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Correlations, t-tests, ANOVA, regression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57600" y="438912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4572000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3c. Search Literature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617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(Optional) Query knowledge base via 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657600" y="502920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828800" y="521207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3d. Synthesize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25779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Combine stats + literature → discoveries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57600" y="5669279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828800" y="5852159"/>
            <a:ext cx="3657600" cy="457200"/>
          </a:xfrm>
          <a:prstGeom prst="roundRect">
            <a:avLst/>
          </a:prstGeom>
          <a:solidFill>
            <a:srgbClr val="B4C8DC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 3e. Update World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589787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Add discoveries &amp; trajectories to graph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657600" y="6309359"/>
            <a:ext cx="0" cy="182881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828800" y="6492240"/>
            <a:ext cx="3657600" cy="457200"/>
          </a:xfrm>
          <a:prstGeom prst="roundRect">
            <a:avLst/>
          </a:prstGeom>
          <a:solidFill>
            <a:srgbClr val="6496C8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4. Generate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6537959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Extract statistics, format enhanced report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57600" y="6949440"/>
            <a:ext cx="0" cy="182880"/>
          </a:xfrm>
          <a:prstGeom prst="line">
            <a:avLst/>
          </a:prstGeom>
          <a:ln w="1905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28800" y="7132320"/>
            <a:ext cx="3657600" cy="4572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5. Deliver Outputs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7178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Dashboard + TXT report + JSON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731520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TYPICAL TIMING: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5 cycles with LLM: ~10-20 min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5 cycles statistical-only: ~2-5 min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Scales with data size &amp; API latency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2060"/>
                </a:solidFill>
                <a:latin typeface="Calibri"/>
              </a:rPr>
              <a:t>Appendix: 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LOCAL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Python Environment</a:t>
            </a:r>
          </a:p>
          <a:p>
            <a:pPr algn="ctr"/>
            <a:endParaRPr sz="900" b="0">
              <a:solidFill>
                <a:srgbClr val="404040"/>
              </a:solidFill>
              <a:latin typeface="Calibri"/>
            </a:endParaRP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Streamlit dev server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Local file storage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Direct OpenAI calls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No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Run: streamlit run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streamlit_app_ULTIMATE.py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CONTAINERIZED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Docker Container</a:t>
            </a:r>
          </a:p>
          <a:p>
            <a:pPr algn="ctr"/>
            <a:endParaRPr sz="900" b="0">
              <a:solidFill>
                <a:srgbClr val="404040"/>
              </a:solidFill>
              <a:latin typeface="Calibri"/>
            </a:endParaRP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Dockerfile included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Isolated dependencies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Volume mounts for data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Port 8501 exposed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Run: docker build &amp; run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(see Dockerfile if exists)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097280"/>
            <a:ext cx="3200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0070C0"/>
                </a:solidFill>
                <a:latin typeface="Calibri"/>
              </a:rPr>
              <a:t>CLOUD (Optional)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200400" cy="1097280"/>
          </a:xfrm>
          <a:prstGeom prst="roundRect">
            <a:avLst/>
          </a:prstGeom>
          <a:solidFill>
            <a:srgbClr val="E6F0FA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Cloud Deployment</a:t>
            </a:r>
          </a:p>
          <a:p>
            <a:pPr algn="ctr"/>
            <a:endParaRPr sz="900" b="0">
              <a:solidFill>
                <a:srgbClr val="404040"/>
              </a:solidFill>
              <a:latin typeface="Calibri"/>
            </a:endParaRP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AWS/GCP/Azure VM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S3/GCS for data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Secrets manager for keys</a:t>
            </a:r>
          </a:p>
          <a:p>
            <a:pPr algn="ctr"/>
            <a:r>
              <a:rPr sz="900" b="0">
                <a:solidFill>
                  <a:srgbClr val="404040"/>
                </a:solidFill>
                <a:latin typeface="Calibri"/>
              </a:rPr>
              <a:t>• Load balancer (if scaled)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5603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Deploy: Cloud-specific</a:t>
            </a:r>
          </a:p>
          <a:p>
            <a:pPr algn="ctr"/>
            <a:r>
              <a:rPr sz="800" b="0">
                <a:solidFill>
                  <a:srgbClr val="404040"/>
                </a:solidFill>
                <a:latin typeface="Calibri"/>
              </a:rPr>
              <a:t>(Terraform/Helm if infra exists)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CONFIGURATION &amp; SECRETS:</a:t>
            </a:r>
          </a:p>
          <a:p>
            <a:pPr algn="l"/>
            <a:endParaRPr sz="900" b="0">
              <a:solidFill>
                <a:srgbClr val="404040"/>
              </a:solidFill>
              <a:latin typeface="Calibri"/>
            </a:endParaRP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OpenAI API Key: Set in config.py or via Streamlit UI (saved to session)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Data Sources: CSV files in data/ directory or auto-generated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Literature KB: JSON index + text files in knowledge/literature/</a:t>
            </a: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• Outputs: world_model.json &amp; auto_enhanced_report.txt in base directory</a:t>
            </a:r>
          </a:p>
          <a:p>
            <a:pPr algn="l"/>
            <a:endParaRPr sz="900" b="0">
              <a:solidFill>
                <a:srgbClr val="404040"/>
              </a:solidFill>
              <a:latin typeface="Calibri"/>
            </a:endParaRPr>
          </a:p>
          <a:p>
            <a:pPr algn="l"/>
            <a:r>
              <a:rPr sz="900" b="0">
                <a:solidFill>
                  <a:srgbClr val="404040"/>
                </a:solidFill>
                <a:latin typeface="Calibri"/>
              </a:rPr>
              <a:t>SECURITY NOTE: API keys are stored in config.py (local file). For production, use environment variables or secrets manager.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689</Words>
  <Application>Microsoft Office PowerPoint</Application>
  <PresentationFormat>Widescreen</PresentationFormat>
  <Paragraphs>158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James Young</cp:lastModifiedBy>
  <cp:revision>3</cp:revision>
  <dcterms:created xsi:type="dcterms:W3CDTF">2013-01-27T09:14:16Z</dcterms:created>
  <dcterms:modified xsi:type="dcterms:W3CDTF">2025-11-12T04:22:39Z</dcterms:modified>
  <cp:category/>
</cp:coreProperties>
</file>