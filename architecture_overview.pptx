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NOTES:</a:t>
            </a:r>
          </a:p>
          <a:p/>
          <a:p>
            <a:r>
              <a:t>CSV Data: Customer transaction data (customers.csv, competitor_data.csv) loaded into system.</a:t>
            </a:r>
          </a:p>
          <a:p>
            <a:r>
              <a:t>OpenAI API: Used for intelligent question generation and code synthesis.</a:t>
            </a:r>
          </a:p>
          <a:p>
            <a:r>
              <a:t>Streamlit UI: Interactive web interface for user interaction and visualization.</a:t>
            </a:r>
          </a:p>
          <a:p>
            <a:r>
              <a:t>Kosmos Orchestrator: Main loop coordinating discovery cycles (main.py).</a:t>
            </a:r>
          </a:p>
          <a:p>
            <a:r>
              <a:t>Data Analysis Agent: Generates and executes Python code for statistical analysis (scipy).</a:t>
            </a:r>
          </a:p>
          <a:p>
            <a:r>
              <a:t>Literature Agent: Searches knowledge base for relevant research papers.</a:t>
            </a:r>
          </a:p>
          <a:p>
            <a:r>
              <a:t>Statistical Engine: Performs t-tests, ANOVA, correlations, regressions.</a:t>
            </a:r>
          </a:p>
          <a:p>
            <a:r>
              <a:t>World Model: Maintains state, discoveries, hypotheses across cycles.</a:t>
            </a:r>
          </a:p>
          <a:p>
            <a:r>
              <a:t>Local Storage: Persists world model state as JSON.</a:t>
            </a:r>
          </a:p>
          <a:p>
            <a:r>
              <a:t>Analysis Outputs: Generated Python scripts with analysis code.</a:t>
            </a:r>
          </a:p>
          <a:p>
            <a:r>
              <a:t>Reports: Final discovery reports in text and PowerPoint formats.</a:t>
            </a:r>
          </a:p>
          <a:p/>
          <a:p>
            <a:r>
              <a:t>KEY FLOWS:</a:t>
            </a:r>
          </a:p>
          <a:p>
            <a:r>
              <a:t>1. User defines research objective via Streamlit</a:t>
            </a:r>
          </a:p>
          <a:p>
            <a:r>
              <a:t>2. Orchestrator generates research questions per cycle</a:t>
            </a:r>
          </a:p>
          <a:p>
            <a:r>
              <a:t>3. Data Agent executes statistical analyses</a:t>
            </a:r>
          </a:p>
          <a:p>
            <a:r>
              <a:t>4. World Model synthesizes discoveries</a:t>
            </a:r>
          </a:p>
          <a:p>
            <a:r>
              <a:t>5. Final reports generated with all findings</a:t>
            </a:r>
          </a:p>
          <a:p/>
          <a:p>
            <a:r>
              <a:t>VERIFIED: All connections represent actual code paths in the repository.</a:t>
            </a:r>
          </a:p>
          <a:p>
            <a:r>
              <a:t>INFERRED: Dotted lines would indicate uncertain flows (none present).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ectangle 11"/>
          <p:cNvSpPr/>
          <p:nvPr/>
        </p:nvSpPr>
        <p:spPr>
          <a:xfrm>
            <a:off x="8686800" y="731520"/>
            <a:ext cx="2743200" cy="4754880"/>
          </a:xfrm>
          <a:prstGeom prst="rect">
            <a:avLst/>
          </a:prstGeom>
          <a:solidFill>
            <a:srgbClr val="FAFAFA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731520"/>
            <a:ext cx="1828800" cy="4754880"/>
          </a:xfrm>
          <a:prstGeom prst="rect">
            <a:avLst/>
          </a:prstGeom>
          <a:solidFill>
            <a:srgbClr val="FAFAFA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731520"/>
            <a:ext cx="1828800" cy="4754880"/>
          </a:xfrm>
          <a:prstGeom prst="rect">
            <a:avLst/>
          </a:prstGeom>
          <a:solidFill>
            <a:srgbClr val="FAFAFA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731520"/>
            <a:ext cx="1371600" cy="4754880"/>
          </a:xfrm>
          <a:prstGeom prst="rect">
            <a:avLst/>
          </a:prstGeom>
          <a:solidFill>
            <a:srgbClr val="FAFAFA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731520"/>
            <a:ext cx="1645920" cy="4754880"/>
          </a:xfrm>
          <a:prstGeom prst="rect">
            <a:avLst/>
          </a:prstGeom>
          <a:solidFill>
            <a:srgbClr val="FAFAFA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404040"/>
                </a:solidFill>
                <a:latin typeface="Calibri"/>
              </a:defRPr>
            </a:pPr>
            <a:r>
              <a:t>Agentic Insights: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808080"/>
                </a:solidFill>
                <a:latin typeface="Calibri"/>
              </a:defRPr>
            </a:pPr>
            <a:r>
              <a:t>Autonomous data-driven discovery: question generation → analysis → synthesis →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08080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40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08080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0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08080"/>
                </a:solidFill>
                <a:latin typeface="Calibri"/>
              </a:defRPr>
            </a:pPr>
            <a:r>
              <a:t>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0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08080"/>
                </a:solidFill>
                <a:latin typeface="Calibri"/>
              </a:defRPr>
            </a:pPr>
            <a:r>
              <a:t>State &amp;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00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08080"/>
                </a:solidFill>
                <a:latin typeface="Calibri"/>
              </a:defRPr>
            </a:pPr>
            <a:r>
              <a:t>Outputs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325880" y="2377440"/>
            <a:ext cx="4023360" cy="2743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80360" y="23774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Batch CSV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37560" y="1463040"/>
            <a:ext cx="0" cy="164592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880360" y="21488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User requests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337560" y="2377440"/>
            <a:ext cx="2011680" cy="7315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886200" y="26060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Questions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37560" y="3108960"/>
            <a:ext cx="2011680" cy="73152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86200" y="333756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Queries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325880" y="2377440"/>
            <a:ext cx="4023360" cy="25603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880360" y="35204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Code gen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25880" y="3840480"/>
            <a:ext cx="4023360" cy="109728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80360" y="425196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Search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40" y="2377440"/>
            <a:ext cx="2011680" cy="0"/>
          </a:xfrm>
          <a:prstGeom prst="line">
            <a:avLst/>
          </a:prstGeom>
          <a:ln w="317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97880" y="22402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Stats tests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60920" y="2377440"/>
            <a:ext cx="0" cy="18288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154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Results JSON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49240" y="3840480"/>
            <a:ext cx="2011680" cy="36576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97880" y="38862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Findings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7360920" y="3108960"/>
            <a:ext cx="2011680" cy="109728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09560" y="35204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State save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49240" y="2377440"/>
            <a:ext cx="4023360" cy="27432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03720" y="36118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Code artifacts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7360920" y="4023360"/>
            <a:ext cx="3749040" cy="18288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778240" y="397764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08080"/>
                </a:solidFill>
                <a:latin typeface="Calibri"/>
              </a:defRPr>
            </a:pPr>
            <a:r>
              <a:t>Final reports</a:t>
            </a:r>
          </a:p>
        </p:txBody>
      </p:sp>
      <p:sp>
        <p:nvSpPr>
          <p:cNvPr id="38" name="Can 37"/>
          <p:cNvSpPr/>
          <p:nvPr/>
        </p:nvSpPr>
        <p:spPr>
          <a:xfrm>
            <a:off x="731520" y="2286000"/>
            <a:ext cx="1188720" cy="731520"/>
          </a:xfrm>
          <a:prstGeom prst="can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CSV Data</a:t>
            </a:r>
          </a:p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(customers,</a:t>
            </a:r>
          </a:p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competitors)</a:t>
            </a:r>
          </a:p>
        </p:txBody>
      </p:sp>
      <p:sp>
        <p:nvSpPr>
          <p:cNvPr id="39" name="Hexagon 38"/>
          <p:cNvSpPr/>
          <p:nvPr/>
        </p:nvSpPr>
        <p:spPr>
          <a:xfrm>
            <a:off x="731520" y="4572000"/>
            <a:ext cx="1188720" cy="731520"/>
          </a:xfrm>
          <a:prstGeom prst="hexagon">
            <a:avLst/>
          </a:prstGeom>
          <a:solidFill>
            <a:srgbClr val="C0C0C0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OpenAI API</a:t>
            </a:r>
          </a:p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(GPT-3.5/4)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1097280"/>
            <a:ext cx="1188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Streamlit UI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2743200"/>
            <a:ext cx="1188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Kosmos</a:t>
            </a:r>
          </a:p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2011680"/>
            <a:ext cx="1188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Data Analysis</a:t>
            </a:r>
          </a:p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3474720"/>
            <a:ext cx="1188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Literature</a:t>
            </a:r>
          </a:p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Agent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2011680"/>
            <a:ext cx="1188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Statistical</a:t>
            </a:r>
          </a:p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Engine (scipy)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840480"/>
            <a:ext cx="11887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World Model</a:t>
            </a:r>
          </a:p>
          <a:p>
            <a:pPr algn="ctr">
              <a:defRPr sz="1000" b="1">
                <a:solidFill>
                  <a:srgbClr val="404040"/>
                </a:solidFill>
                <a:latin typeface="Calibri"/>
              </a:defRPr>
            </a:pPr>
            <a:r>
              <a:t>(State Mgmt)</a:t>
            </a:r>
          </a:p>
        </p:txBody>
      </p:sp>
      <p:sp>
        <p:nvSpPr>
          <p:cNvPr id="46" name="Can 45"/>
          <p:cNvSpPr/>
          <p:nvPr/>
        </p:nvSpPr>
        <p:spPr>
          <a:xfrm>
            <a:off x="8778240" y="2743200"/>
            <a:ext cx="1188720" cy="731520"/>
          </a:xfrm>
          <a:prstGeom prst="can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Local Storage</a:t>
            </a:r>
          </a:p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(JSON/CSV)</a:t>
            </a:r>
          </a:p>
        </p:txBody>
      </p:sp>
      <p:sp>
        <p:nvSpPr>
          <p:cNvPr id="47" name="Parallelogram 46"/>
          <p:cNvSpPr/>
          <p:nvPr/>
        </p:nvSpPr>
        <p:spPr>
          <a:xfrm>
            <a:off x="8778240" y="4754880"/>
            <a:ext cx="1188720" cy="731520"/>
          </a:xfrm>
          <a:prstGeom prst="parallelogram">
            <a:avLst/>
          </a:prstGeom>
          <a:solidFill>
            <a:srgbClr val="FFFFFF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Analysis</a:t>
            </a:r>
          </a:p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Outputs (.py)</a:t>
            </a:r>
          </a:p>
        </p:txBody>
      </p:sp>
      <p:sp>
        <p:nvSpPr>
          <p:cNvPr id="48" name="Parallelogram 47"/>
          <p:cNvSpPr/>
          <p:nvPr/>
        </p:nvSpPr>
        <p:spPr>
          <a:xfrm>
            <a:off x="10515600" y="3657600"/>
            <a:ext cx="1188720" cy="731520"/>
          </a:xfrm>
          <a:prstGeom prst="parallelogram">
            <a:avLst/>
          </a:prstGeom>
          <a:solidFill>
            <a:srgbClr val="FFFFFF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63500" tIns="63500"/>
          <a:lstStyle/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Reports</a:t>
            </a:r>
          </a:p>
          <a:p>
            <a:pPr algn="ctr">
              <a:defRPr sz="1000" b="0">
                <a:solidFill>
                  <a:srgbClr val="404040"/>
                </a:solidFill>
                <a:latin typeface="Calibri"/>
              </a:defRPr>
            </a:pPr>
            <a:r>
              <a:t>(.txt, .pptx)</a:t>
            </a:r>
          </a:p>
        </p:txBody>
      </p:sp>
      <p:sp>
        <p:nvSpPr>
          <p:cNvPr id="49" name="Can 48"/>
          <p:cNvSpPr/>
          <p:nvPr/>
        </p:nvSpPr>
        <p:spPr>
          <a:xfrm>
            <a:off x="9144000" y="5669280"/>
            <a:ext cx="228600" cy="182880"/>
          </a:xfrm>
          <a:prstGeom prst="can">
            <a:avLst/>
          </a:prstGeom>
          <a:solidFill>
            <a:srgbClr val="FFFFFF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566928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04040"/>
                </a:solidFill>
                <a:latin typeface="Calibri"/>
              </a:defRPr>
            </a:pPr>
            <a:r>
              <a:t>Datastore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15600" y="5669280"/>
            <a:ext cx="228600" cy="18288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0" y="566928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04040"/>
                </a:solidFill>
                <a:latin typeface="Calibri"/>
              </a:defRPr>
            </a:pPr>
            <a:r>
              <a:t>Service/Module</a:t>
            </a:r>
          </a:p>
        </p:txBody>
      </p:sp>
      <p:sp>
        <p:nvSpPr>
          <p:cNvPr id="53" name="Hexagon 52"/>
          <p:cNvSpPr/>
          <p:nvPr/>
        </p:nvSpPr>
        <p:spPr>
          <a:xfrm>
            <a:off x="9144000" y="5989320"/>
            <a:ext cx="228600" cy="182880"/>
          </a:xfrm>
          <a:prstGeom prst="hexagon">
            <a:avLst/>
          </a:prstGeom>
          <a:solidFill>
            <a:srgbClr val="FFFFFF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18320" y="598932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04040"/>
                </a:solidFill>
                <a:latin typeface="Calibri"/>
              </a:defRPr>
            </a:pPr>
            <a:r>
              <a:t>External System</a:t>
            </a:r>
          </a:p>
        </p:txBody>
      </p:sp>
      <p:sp>
        <p:nvSpPr>
          <p:cNvPr id="55" name="Parallelogram 54"/>
          <p:cNvSpPr/>
          <p:nvPr/>
        </p:nvSpPr>
        <p:spPr>
          <a:xfrm>
            <a:off x="10515600" y="5989320"/>
            <a:ext cx="228600" cy="182880"/>
          </a:xfrm>
          <a:prstGeom prst="parallelogram">
            <a:avLst/>
          </a:prstGeom>
          <a:solidFill>
            <a:srgbClr val="FFFFFF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89920" y="598932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04040"/>
                </a:solidFill>
                <a:latin typeface="Calibri"/>
              </a:defRPr>
            </a:pPr>
            <a:r>
              <a:t>I/O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