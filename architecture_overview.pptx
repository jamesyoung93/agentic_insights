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Overview:</a:t>
            </a:r>
          </a:p>
          <a:p/>
          <a:p>
            <a:r>
              <a:t>SOURCES:</a:t>
            </a:r>
          </a:p>
          <a:p>
            <a:r>
              <a:t>- CSV Data (data/customers.csv, data/competitor_data.csv): Customer transaction and competitor data</a:t>
            </a:r>
          </a:p>
          <a:p>
            <a:r>
              <a:t>- User Input: Research objectives, API keys, and configuration via Streamlit UI</a:t>
            </a:r>
          </a:p>
          <a:p>
            <a:r>
              <a:t>- Literature: Research papers stored in knowledge/literature/*.txt</a:t>
            </a:r>
          </a:p>
          <a:p/>
          <a:p>
            <a:r>
              <a:t>PROCESSING:</a:t>
            </a:r>
          </a:p>
          <a:p>
            <a:r>
              <a:t>- Streamlit Orchestrator: Main application controller that manages discovery cycles</a:t>
            </a:r>
          </a:p>
          <a:p>
            <a:r>
              <a:t>- Statistical Analysis: scipy/numpy-based statistical tests (correlations, t-tests, ANOVA, regression)</a:t>
            </a:r>
          </a:p>
          <a:p>
            <a:r>
              <a:t>- LLM Gateway: OpenAI API integration for question generation and discovery synthesis</a:t>
            </a:r>
          </a:p>
          <a:p>
            <a:r>
              <a:t>- World Model: Knowledge graph manager tracking discoveries, trajectories, and hypotheses</a:t>
            </a:r>
          </a:p>
          <a:p/>
          <a:p>
            <a:r>
              <a:t>STORAGE:</a:t>
            </a:r>
          </a:p>
          <a:p>
            <a:r>
              <a:t>- World Model JSON: Persistent storage of discoveries and analysis trajectories</a:t>
            </a:r>
          </a:p>
          <a:p>
            <a:r>
              <a:t>- Session State: Streamlit session state for runtime data preservation</a:t>
            </a:r>
          </a:p>
          <a:p/>
          <a:p>
            <a:r>
              <a:t>OUTPUTS:</a:t>
            </a:r>
          </a:p>
          <a:p>
            <a:r>
              <a:t>- Dashboard: Interactive Streamlit web interface with real-time visualizations</a:t>
            </a:r>
          </a:p>
          <a:p>
            <a:r>
              <a:t>- Reports: Auto-generated text reports with statistical evidence extraction</a:t>
            </a:r>
          </a:p>
          <a:p/>
          <a:p>
            <a:r>
              <a:t>Evidence: All components verified in source code (see component_index.csv)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C3E50"/>
                </a:solidFill>
              </a:defRPr>
            </a:pPr>
            <a:r>
              <a:t>Agentic Insights: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371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F8C8D"/>
                </a:solidFill>
              </a:defRPr>
            </a:pPr>
            <a:r>
              <a:t>Autonomous AI discovery system with statistical rigor and LLM synthesis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3716000" cy="76679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Appendix A: Component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371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98DB"/>
                </a:solidFill>
              </a:defRPr>
            </a:pPr>
            <a:r>
              <a:t>Sources: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Customer Data CSV: User uploaded data → Customer records (demographics/transactions)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Competitor Data CSV: User uploaded data → Competitor interaction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Literature Files: Research papers → Full-text paper 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1371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98DB"/>
                </a:solidFill>
              </a:defRPr>
            </a:pPr>
            <a:r>
              <a:t>Processing: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Streamlit Orchestrator: User commands + data → Discovery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Data Loader: CSV files or generates sample → Pandas DataFrame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8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Statistical Analysis Engine: DataFrame + research questions → Statistical results (p-values/effect sizes)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371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98DB"/>
                </a:solidFill>
              </a:defRPr>
            </a:pPr>
            <a:r>
              <a:t>Storage: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World Model Store: World model state → Persisted discoveries/trajectories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Literature Index Store: Indexed papers → Paper metadata + keyword 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6636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Session State Store: Discovery state → Runtime state preservation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77840"/>
            <a:ext cx="1371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98DB"/>
                </a:solidFill>
              </a:defRPr>
            </a:pPr>
            <a:r>
              <a:t>Outputs: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Enhanced Report Output: Report content → Text file with discoveries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0936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Analysis Output Files: Analysis results → JSON results + Python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720840"/>
            <a:ext cx="1325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Interactive Dashboard: Discovery results + logs → Interactive visualizations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Appendix B: Discovery Cycle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Discovery Cycle Flow: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1. User initiates discovery via Streamlit UI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Provides research objective and configures cycles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2. Data Loader reads CSV files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Loads and preprocesses customer/competitor data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3. Orchestrator generates research questions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Uses LLM (if enabled) or default question bank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4. Statistical Analysis Engine executes analyses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Performs correlations, t-tests, ANOVA, regression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Computes p-values, effect sizes, confidence intervals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5. LLM Gateway (optional) searches literature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Queries literature index for relevant papers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Extracts and synthesizes findings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6. Discovery Synthesis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LLM combines statistical + literature evidence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Generates actionable discoveries with confidence scores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7. World Model updates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Stores discoveries, trajectories, hypotheses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Persists to world_model.json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8. Report Generation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Auto-extracts statistics from trajectories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Formats enhanced report with full evidence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9. Dashboard displays results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Real-time visualization of discoveries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  <a:r>
              <a:t>   → Interactive filtering and exploration</a:t>
            </a:r>
          </a:p>
          <a:p>
            <a:pPr>
              <a:spcBef>
                <a:spcPts val="600"/>
              </a:spcBef>
              <a:defRPr sz="1100">
                <a:solidFill>
                  <a:srgbClr val="2C3E50"/>
                </a:solidFill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