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F3864"/>
                </a:solidFill>
                <a:latin typeface="Calibri"/>
              </a:defRPr>
            </a:pPr>
            <a:r>
              <a:t>Data to Discovery: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solidFill>
                  <a:srgbClr val="212121"/>
                </a:solidFill>
                <a:latin typeface="Calibri"/>
              </a:defRPr>
            </a:pPr>
            <a:r>
              <a:t>Autonomous discovery through statistical analysis, agent orchestration, and LLM synthesis</a:t>
            </a:r>
          </a:p>
        </p:txBody>
      </p:sp>
      <p:sp>
        <p:nvSpPr>
          <p:cNvPr id="4" name="Can 3"/>
          <p:cNvSpPr/>
          <p:nvPr/>
        </p:nvSpPr>
        <p:spPr>
          <a:xfrm>
            <a:off x="365760" y="1188720"/>
            <a:ext cx="1737360" cy="640080"/>
          </a:xfrm>
          <a:prstGeom prst="can">
            <a:avLst/>
          </a:prstGeom>
          <a:solidFill>
            <a:srgbClr val="B0C4D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CSV</a:t>
            </a:r>
          </a:p>
          <a:p>
            <a:r>
              <a:t>Data</a:t>
            </a:r>
          </a:p>
        </p:txBody>
      </p:sp>
      <p:sp>
        <p:nvSpPr>
          <p:cNvPr id="5" name="Can 4"/>
          <p:cNvSpPr/>
          <p:nvPr/>
        </p:nvSpPr>
        <p:spPr>
          <a:xfrm>
            <a:off x="365760" y="2148840"/>
            <a:ext cx="1737360" cy="640080"/>
          </a:xfrm>
          <a:prstGeom prst="can">
            <a:avLst/>
          </a:prstGeom>
          <a:solidFill>
            <a:srgbClr val="B0C4D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Literature</a:t>
            </a:r>
          </a:p>
          <a:p>
            <a:r>
              <a:t>Store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365760" y="3108960"/>
            <a:ext cx="1737360" cy="640080"/>
          </a:xfrm>
          <a:prstGeom prst="parallelogram">
            <a:avLst/>
          </a:prstGeom>
          <a:solidFill>
            <a:srgbClr val="BDBDBD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Config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1188720"/>
            <a:ext cx="1737360" cy="640080"/>
          </a:xfrm>
          <a:prstGeom prst="roundRect">
            <a:avLst/>
          </a:prstGeom>
          <a:solidFill>
            <a:srgbClr val="90A4A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Streamlit</a:t>
            </a:r>
          </a:p>
          <a:p>
            <a:r>
              <a:t>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108960"/>
            <a:ext cx="1737360" cy="640080"/>
          </a:xfrm>
          <a:prstGeom prst="roundRect">
            <a:avLst/>
          </a:prstGeom>
          <a:solidFill>
            <a:srgbClr val="90A4A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Kosmos</a:t>
            </a:r>
          </a:p>
          <a:p>
            <a: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188720"/>
            <a:ext cx="1737360" cy="640080"/>
          </a:xfrm>
          <a:prstGeom prst="roundRect">
            <a:avLst/>
          </a:prstGeom>
          <a:solidFill>
            <a:srgbClr val="90A4A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Data</a:t>
            </a:r>
          </a:p>
          <a:p>
            <a:r>
              <a:t>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148840"/>
            <a:ext cx="1737360" cy="640080"/>
          </a:xfrm>
          <a:prstGeom prst="roundRect">
            <a:avLst/>
          </a:prstGeom>
          <a:solidFill>
            <a:srgbClr val="90A4A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Literature</a:t>
            </a:r>
          </a:p>
          <a:p>
            <a:r>
              <a:t>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3108960"/>
            <a:ext cx="1737360" cy="640080"/>
          </a:xfrm>
          <a:prstGeom prst="roundRect">
            <a:avLst/>
          </a:prstGeom>
          <a:solidFill>
            <a:srgbClr val="90A4A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World</a:t>
            </a:r>
          </a:p>
          <a:p>
            <a:r>
              <a:t>Model</a:t>
            </a:r>
          </a:p>
        </p:txBody>
      </p:sp>
      <p:sp>
        <p:nvSpPr>
          <p:cNvPr id="12" name="Hexagon 11"/>
          <p:cNvSpPr/>
          <p:nvPr/>
        </p:nvSpPr>
        <p:spPr>
          <a:xfrm>
            <a:off x="6126480" y="2148840"/>
            <a:ext cx="1737360" cy="640080"/>
          </a:xfrm>
          <a:prstGeom prst="hexagon">
            <a:avLst/>
          </a:prstGeom>
          <a:solidFill>
            <a:srgbClr val="FF9800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OpenAI</a:t>
            </a:r>
          </a:p>
          <a:p>
            <a:r>
              <a:t>API</a:t>
            </a:r>
          </a:p>
        </p:txBody>
      </p:sp>
      <p:sp>
        <p:nvSpPr>
          <p:cNvPr id="13" name="Can 12"/>
          <p:cNvSpPr/>
          <p:nvPr/>
        </p:nvSpPr>
        <p:spPr>
          <a:xfrm>
            <a:off x="8046720" y="3108960"/>
            <a:ext cx="1737360" cy="640080"/>
          </a:xfrm>
          <a:prstGeom prst="can">
            <a:avLst/>
          </a:prstGeom>
          <a:solidFill>
            <a:srgbClr val="B0C4DE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State</a:t>
            </a:r>
          </a:p>
          <a:p>
            <a:r>
              <a:t>JSON</a:t>
            </a:r>
          </a:p>
        </p:txBody>
      </p:sp>
      <p:sp>
        <p:nvSpPr>
          <p:cNvPr id="14" name="Parallelogram 13"/>
          <p:cNvSpPr/>
          <p:nvPr/>
        </p:nvSpPr>
        <p:spPr>
          <a:xfrm>
            <a:off x="9966960" y="2148840"/>
            <a:ext cx="1737360" cy="640080"/>
          </a:xfrm>
          <a:prstGeom prst="parallelogram">
            <a:avLst/>
          </a:prstGeom>
          <a:solidFill>
            <a:srgbClr val="BDBDBD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Report</a:t>
            </a:r>
          </a:p>
          <a:p>
            <a:r>
              <a:t>TXT</a:t>
            </a:r>
          </a:p>
        </p:txBody>
      </p:sp>
      <p:sp>
        <p:nvSpPr>
          <p:cNvPr id="15" name="Parallelogram 14"/>
          <p:cNvSpPr/>
          <p:nvPr/>
        </p:nvSpPr>
        <p:spPr>
          <a:xfrm>
            <a:off x="9966960" y="3108960"/>
            <a:ext cx="1737360" cy="640080"/>
          </a:xfrm>
          <a:prstGeom prst="parallelogram">
            <a:avLst/>
          </a:prstGeom>
          <a:solidFill>
            <a:srgbClr val="BDBDBD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Analysis</a:t>
            </a:r>
          </a:p>
          <a:p>
            <a:r>
              <a:t>Code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03120" y="1508760.0"/>
            <a:ext cx="182880" cy="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103120" y="1508760.0"/>
            <a:ext cx="182880" cy="192024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023360" y="1508760.0"/>
            <a:ext cx="182880" cy="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23360" y="1508760.0"/>
            <a:ext cx="182880" cy="192024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43600" y="1508760.0"/>
            <a:ext cx="182880" cy="96012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1508760.0"/>
            <a:ext cx="1737360" cy="192024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943600" y="2468880.0"/>
            <a:ext cx="182880" cy="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206240" y="2468880.0"/>
            <a:ext cx="1737360" cy="96012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43600" y="3429000.0"/>
            <a:ext cx="2103120" cy="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943600" y="2468880.0"/>
            <a:ext cx="4023360" cy="96012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43600" y="1508760.0"/>
            <a:ext cx="4023360" cy="192024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03120" y="2468880.0"/>
            <a:ext cx="2103120" cy="0.0"/>
          </a:xfrm>
          <a:prstGeom prst="line">
            <a:avLst/>
          </a:prstGeom>
          <a:ln w="190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09760" y="5212080"/>
            <a:ext cx="2468880" cy="128016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3035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12121"/>
                </a:solidFill>
                <a:latin typeface="Calibri"/>
              </a:defRPr>
            </a:pPr>
            <a:r>
              <a:t>Legend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623560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latin typeface="Calibri"/>
              </a:defRPr>
            </a:pPr>
            <a:r>
              <a:rPr sz="1600" b="1">
                <a:solidFill>
                  <a:srgbClr val="B0C4DE"/>
                </a:solidFill>
              </a:rPr>
              <a:t>● Datastore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824728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latin typeface="Calibri"/>
              </a:defRPr>
            </a:pPr>
            <a:r>
              <a:rPr sz="1600" b="1">
                <a:solidFill>
                  <a:srgbClr val="90A4AE"/>
                </a:solidFill>
              </a:rPr>
              <a:t>● Service/Module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025896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latin typeface="Calibri"/>
              </a:defRPr>
            </a:pPr>
            <a:r>
              <a:rPr sz="1600" b="1">
                <a:solidFill>
                  <a:srgbClr val="FF9800"/>
                </a:solidFill>
              </a:rPr>
              <a:t>● External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6227064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latin typeface="Calibri"/>
              </a:defRPr>
            </a:pPr>
            <a:r>
              <a:rPr sz="1600" b="1">
                <a:solidFill>
                  <a:srgbClr val="BDBDBD"/>
                </a:solidFill>
              </a:rPr>
              <a:t>● Input/Output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