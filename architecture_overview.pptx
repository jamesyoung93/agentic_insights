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2060"/>
                </a:solidFill>
                <a:latin typeface="Calibri"/>
              </a:rPr>
              <a:t>System Architecture: How Agentic Insights Produces Autonomous Discoveries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Calibri"/>
              </a:rPr>
              <a:t>Multi-cycle discovery engine combining statistical rigor with optional LLM intelligence to generate evidence-backed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Calibri"/>
              </a:rPr>
              <a:t>DATA SOURCES</a:t>
            </a:r>
          </a:p>
        </p:txBody>
      </p:sp>
      <p:sp>
        <p:nvSpPr>
          <p:cNvPr id="5" name="Can 4"/>
          <p:cNvSpPr/>
          <p:nvPr/>
        </p:nvSpPr>
        <p:spPr>
          <a:xfrm>
            <a:off x="822960" y="2011680"/>
            <a:ext cx="914400" cy="640080"/>
          </a:xfrm>
          <a:prstGeom prst="can">
            <a:avLst/>
          </a:prstGeom>
          <a:solidFill>
            <a:srgbClr val="C0C0C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CSV Files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(customers,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competitor)</a:t>
            </a:r>
          </a:p>
        </p:txBody>
      </p:sp>
      <p:sp>
        <p:nvSpPr>
          <p:cNvPr id="6" name="Can 5"/>
          <p:cNvSpPr/>
          <p:nvPr/>
        </p:nvSpPr>
        <p:spPr>
          <a:xfrm>
            <a:off x="1828800" y="2011680"/>
            <a:ext cx="914400" cy="640080"/>
          </a:xfrm>
          <a:prstGeom prst="can">
            <a:avLst/>
          </a:prstGeom>
          <a:solidFill>
            <a:srgbClr val="C0C0C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Literature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Knowledge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Base</a:t>
            </a:r>
          </a:p>
        </p:txBody>
      </p:sp>
      <p:sp>
        <p:nvSpPr>
          <p:cNvPr id="7" name="Hexagon 6"/>
          <p:cNvSpPr/>
          <p:nvPr/>
        </p:nvSpPr>
        <p:spPr>
          <a:xfrm>
            <a:off x="1188720" y="3017520"/>
            <a:ext cx="1097280" cy="457200"/>
          </a:xfrm>
          <a:prstGeom prst="hexagon">
            <a:avLst/>
          </a:prstGeom>
          <a:solidFill>
            <a:srgbClr val="FFF0C8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OpenAI API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(optional)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5544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Calibri"/>
              </a:rPr>
              <a:t>PROCESSING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874520"/>
            <a:ext cx="2560320" cy="457200"/>
          </a:xfrm>
          <a:prstGeom prst="roundRect">
            <a:avLst/>
          </a:prstGeom>
          <a:solidFill>
            <a:srgbClr val="0070C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Streamlit UI &amp; Orchestration Engine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2514600"/>
            <a:ext cx="1097280" cy="384048"/>
          </a:xfrm>
          <a:prstGeom prst="rect">
            <a:avLst/>
          </a:prstGeom>
          <a:solidFill>
            <a:srgbClr val="DCE6F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Question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Generator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46320" y="2514600"/>
            <a:ext cx="1097280" cy="384048"/>
          </a:xfrm>
          <a:prstGeom prst="rect">
            <a:avLst/>
          </a:prstGeom>
          <a:solidFill>
            <a:srgbClr val="DCE6F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Statistical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Analysis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2990088"/>
            <a:ext cx="1097280" cy="384048"/>
          </a:xfrm>
          <a:prstGeom prst="rect">
            <a:avLst/>
          </a:prstGeom>
          <a:solidFill>
            <a:srgbClr val="DCE6F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Literature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Search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2990088"/>
            <a:ext cx="1097280" cy="384048"/>
          </a:xfrm>
          <a:prstGeom prst="rect">
            <a:avLst/>
          </a:prstGeom>
          <a:solidFill>
            <a:srgbClr val="DCE6F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Discovery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Synthesizer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55448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Calibri"/>
              </a:rPr>
              <a:t>STORAGE &amp; STATE</a:t>
            </a:r>
          </a:p>
        </p:txBody>
      </p:sp>
      <p:sp>
        <p:nvSpPr>
          <p:cNvPr id="15" name="Can 14"/>
          <p:cNvSpPr/>
          <p:nvPr/>
        </p:nvSpPr>
        <p:spPr>
          <a:xfrm>
            <a:off x="7132320" y="2194560"/>
            <a:ext cx="1463040" cy="731520"/>
          </a:xfrm>
          <a:prstGeom prst="can">
            <a:avLst/>
          </a:prstGeom>
          <a:solidFill>
            <a:srgbClr val="00206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World Model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(discoveries,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trajectories,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hypotheses)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60" y="3108960"/>
            <a:ext cx="1280160" cy="365760"/>
          </a:xfrm>
          <a:prstGeom prst="rect">
            <a:avLst/>
          </a:prstGeom>
          <a:solidFill>
            <a:srgbClr val="DCE6F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Report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155448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Calibri"/>
              </a:rPr>
              <a:t>OUTPUTS</a:t>
            </a:r>
          </a:p>
        </p:txBody>
      </p:sp>
      <p:sp>
        <p:nvSpPr>
          <p:cNvPr id="18" name="Parallelogram 17"/>
          <p:cNvSpPr/>
          <p:nvPr/>
        </p:nvSpPr>
        <p:spPr>
          <a:xfrm>
            <a:off x="9692640" y="2011680"/>
            <a:ext cx="1828800" cy="457200"/>
          </a:xfrm>
          <a:prstGeom prst="parallelogram">
            <a:avLst/>
          </a:prstGeom>
          <a:solidFill>
            <a:srgbClr val="DCF0DC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Interactive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Dashboard</a:t>
            </a:r>
          </a:p>
        </p:txBody>
      </p:sp>
      <p:sp>
        <p:nvSpPr>
          <p:cNvPr id="19" name="Parallelogram 18"/>
          <p:cNvSpPr/>
          <p:nvPr/>
        </p:nvSpPr>
        <p:spPr>
          <a:xfrm>
            <a:off x="9692640" y="2606040"/>
            <a:ext cx="1828800" cy="457200"/>
          </a:xfrm>
          <a:prstGeom prst="parallelogram">
            <a:avLst/>
          </a:prstGeom>
          <a:solidFill>
            <a:srgbClr val="DCF0DC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Enhanced Report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(auto_enhanced_report.txt)</a:t>
            </a:r>
          </a:p>
        </p:txBody>
      </p:sp>
      <p:sp>
        <p:nvSpPr>
          <p:cNvPr id="20" name="Parallelogram 19"/>
          <p:cNvSpPr/>
          <p:nvPr/>
        </p:nvSpPr>
        <p:spPr>
          <a:xfrm>
            <a:off x="9692640" y="3200400"/>
            <a:ext cx="1828800" cy="457200"/>
          </a:xfrm>
          <a:prstGeom prst="parallelogram">
            <a:avLst/>
          </a:prstGeom>
          <a:solidFill>
            <a:srgbClr val="DCF0DC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World Model State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(world_model.json)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737360" y="2103120"/>
            <a:ext cx="1828800" cy="22860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377440" y="2080260"/>
            <a:ext cx="5486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0070C0"/>
                </a:solidFill>
                <a:latin typeface="Calibri"/>
              </a:rPr>
              <a:t>CSV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743200" y="2331720"/>
            <a:ext cx="1005839" cy="850392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971800" y="2619756"/>
            <a:ext cx="5486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0070C0"/>
                </a:solidFill>
                <a:latin typeface="Calibri"/>
              </a:rPr>
              <a:t>papers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286000" y="2697480"/>
            <a:ext cx="1554480" cy="54864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788920" y="2834640"/>
            <a:ext cx="5486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0070C0"/>
                </a:solidFill>
                <a:latin typeface="Calibri"/>
              </a:rPr>
              <a:t>REST/JSON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2103120" y="3337560"/>
            <a:ext cx="1828800" cy="4572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743200" y="3223260"/>
            <a:ext cx="5486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0070C0"/>
                </a:solidFill>
                <a:latin typeface="Calibri"/>
              </a:rPr>
              <a:t>REST/JSON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286000" y="3337560"/>
            <a:ext cx="2743200" cy="22860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383280" y="3314700"/>
            <a:ext cx="5486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0070C0"/>
                </a:solidFill>
                <a:latin typeface="Calibri"/>
              </a:rPr>
              <a:t>REST/JSON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6126479" y="2468880"/>
            <a:ext cx="1005841" cy="9144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355080" y="2377440"/>
            <a:ext cx="5486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0070C0"/>
                </a:solidFill>
                <a:latin typeface="Calibri"/>
              </a:rPr>
              <a:t>discoveries</a:t>
            </a:r>
          </a:p>
          <a:p>
            <a:pPr algn="ctr"/>
            <a:r>
              <a:rPr sz="800" b="0">
                <a:solidFill>
                  <a:srgbClr val="0070C0"/>
                </a:solidFill>
                <a:latin typeface="Calibri"/>
              </a:rPr>
              <a:t>+ trajectories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863840" y="2926080"/>
            <a:ext cx="0" cy="18288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8503920" y="2834640"/>
            <a:ext cx="1188720" cy="45720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823959" y="2926080"/>
            <a:ext cx="5486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0070C0"/>
                </a:solidFill>
                <a:latin typeface="Calibri"/>
              </a:rPr>
              <a:t>write TXT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95360" y="2743200"/>
            <a:ext cx="1097280" cy="68580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869680" y="2948940"/>
            <a:ext cx="5486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0070C0"/>
                </a:solidFill>
                <a:latin typeface="Calibri"/>
              </a:rPr>
              <a:t>save JSON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126479" y="2103120"/>
            <a:ext cx="3566161" cy="13716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35239" y="2034540"/>
            <a:ext cx="5486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0070C0"/>
                </a:solidFill>
                <a:latin typeface="Calibri"/>
              </a:rPr>
              <a:t>HTTP/render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669280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04040"/>
                </a:solidFill>
                <a:latin typeface="Calibri"/>
              </a:rPr>
              <a:t>LEGEND</a:t>
            </a:r>
          </a:p>
        </p:txBody>
      </p:sp>
      <p:sp>
        <p:nvSpPr>
          <p:cNvPr id="41" name="Can 40"/>
          <p:cNvSpPr/>
          <p:nvPr/>
        </p:nvSpPr>
        <p:spPr>
          <a:xfrm>
            <a:off x="457200" y="5897880"/>
            <a:ext cx="365760" cy="274320"/>
          </a:xfrm>
          <a:prstGeom prst="can">
            <a:avLst/>
          </a:prstGeom>
          <a:solidFill>
            <a:srgbClr val="C0C0C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" y="5916168"/>
            <a:ext cx="10972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= Data Store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03120" y="5897880"/>
            <a:ext cx="365760" cy="274320"/>
          </a:xfrm>
          <a:prstGeom prst="rect">
            <a:avLst/>
          </a:prstGeom>
          <a:solidFill>
            <a:srgbClr val="DCE6F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514600" y="5916168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= Processing Module</a:t>
            </a:r>
          </a:p>
        </p:txBody>
      </p:sp>
      <p:sp>
        <p:nvSpPr>
          <p:cNvPr id="45" name="Hexagon 44"/>
          <p:cNvSpPr/>
          <p:nvPr/>
        </p:nvSpPr>
        <p:spPr>
          <a:xfrm>
            <a:off x="4114800" y="5897880"/>
            <a:ext cx="365760" cy="274320"/>
          </a:xfrm>
          <a:prstGeom prst="hexagon">
            <a:avLst/>
          </a:prstGeom>
          <a:solidFill>
            <a:srgbClr val="FFF0C8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26280" y="5916168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= External System</a:t>
            </a:r>
          </a:p>
        </p:txBody>
      </p:sp>
      <p:sp>
        <p:nvSpPr>
          <p:cNvPr id="47" name="Parallelogram 46"/>
          <p:cNvSpPr/>
          <p:nvPr/>
        </p:nvSpPr>
        <p:spPr>
          <a:xfrm>
            <a:off x="5943600" y="5897880"/>
            <a:ext cx="365760" cy="274320"/>
          </a:xfrm>
          <a:prstGeom prst="parallelogram">
            <a:avLst/>
          </a:prstGeom>
          <a:solidFill>
            <a:srgbClr val="DCF0DC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5080" y="5916168"/>
            <a:ext cx="10972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= Output Artifact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0" y="5669280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RUNTIME TRIGGER: User initiates discovery → System runs 1-20 cycles → Each cycle: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1) Generates questions  2) Runs statistical tests  3) Searches literature (optional)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4) Synthesizes discoveries  5) Updates world model  6) Produces reports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ectangle 11"/>
          <p:cNvSpPr/>
          <p:nvPr/>
        </p:nvSpPr>
        <p:spPr>
          <a:xfrm>
            <a:off x="9875520" y="914400"/>
            <a:ext cx="2011680" cy="274320"/>
          </a:xfrm>
          <a:prstGeom prst="rect">
            <a:avLst/>
          </a:prstGeom>
          <a:solidFill>
            <a:srgbClr val="00206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914400"/>
            <a:ext cx="2560320" cy="274320"/>
          </a:xfrm>
          <a:prstGeom prst="rect">
            <a:avLst/>
          </a:prstGeom>
          <a:solidFill>
            <a:srgbClr val="00206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54880" y="914400"/>
            <a:ext cx="2560320" cy="274320"/>
          </a:xfrm>
          <a:prstGeom prst="rect">
            <a:avLst/>
          </a:prstGeom>
          <a:solidFill>
            <a:srgbClr val="00206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0" y="914400"/>
            <a:ext cx="2011680" cy="274320"/>
          </a:xfrm>
          <a:prstGeom prst="rect">
            <a:avLst/>
          </a:prstGeom>
          <a:solidFill>
            <a:srgbClr val="00206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2286000" cy="274320"/>
          </a:xfrm>
          <a:prstGeom prst="rect">
            <a:avLst/>
          </a:prstGeom>
          <a:solidFill>
            <a:srgbClr val="00206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Appendix: Component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Component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91440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914400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Key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914400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Inputs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91440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Outputs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234440"/>
            <a:ext cx="228600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28016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Streamlit UI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1234440"/>
            <a:ext cx="201168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128016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streamlit_app_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ULTIMATE.py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1234440"/>
            <a:ext cx="256032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1280160"/>
            <a:ext cx="24688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main(), run_discovery_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cycle()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1234440"/>
            <a:ext cx="256032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20" y="1280160"/>
            <a:ext cx="24688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User inputs,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CSV files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20" y="1234440"/>
            <a:ext cx="201168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21240" y="128016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Dashboard,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logs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828800"/>
            <a:ext cx="228600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1874519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World 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1828800"/>
            <a:ext cx="201168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8920" y="1874519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world_model_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builder.py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0" y="1828800"/>
            <a:ext cx="256032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1874519"/>
            <a:ext cx="24688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add_discovery(),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add_trajectory()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0" y="1828800"/>
            <a:ext cx="256032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60920" y="1874519"/>
            <a:ext cx="24688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Discovery/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trajectory data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0" y="1828800"/>
            <a:ext cx="201168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21240" y="1874519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world_model.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423160"/>
            <a:ext cx="228600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2468879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Report Gen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0" y="2423160"/>
            <a:ext cx="201168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88920" y="2468879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auto_enhanced_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report.py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0" y="2423160"/>
            <a:ext cx="256032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00600" y="2468879"/>
            <a:ext cx="24688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generate_enhanced_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report()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0" y="2423160"/>
            <a:ext cx="256032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60920" y="2468879"/>
            <a:ext cx="24688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Discoveries,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trajectories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75520" y="2423160"/>
            <a:ext cx="201168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21240" y="2468879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auto_enhanced_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report.txt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017520"/>
            <a:ext cx="228600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063239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Stats Engine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0" y="3017520"/>
            <a:ext cx="201168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88920" y="3063239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embedded in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streamlit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0" y="3017520"/>
            <a:ext cx="256032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00600" y="3063239"/>
            <a:ext cx="24688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perform_statistical_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analysis()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15200" y="3017520"/>
            <a:ext cx="256032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60920" y="3063239"/>
            <a:ext cx="24688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DataFrame,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question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875520" y="3017520"/>
            <a:ext cx="201168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21240" y="3063239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p-values,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effect sizes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611879"/>
            <a:ext cx="228600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3657599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Lit Search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0" y="3611879"/>
            <a:ext cx="201168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88920" y="3657599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agents/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literature_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searcher.py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54880" y="3611879"/>
            <a:ext cx="256032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00600" y="3657599"/>
            <a:ext cx="24688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search(),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_extract_insights()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0" y="3611879"/>
            <a:ext cx="256032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60920" y="3657599"/>
            <a:ext cx="24688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Query,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literature KB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75520" y="3611879"/>
            <a:ext cx="201168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21240" y="3657599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Papers,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insights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43891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CRITICAL DEPENDENCIES: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• Python 3.8+  • Streamlit (UI framework)  • SciPy/NumPy (statistical analysis)  • Pandas (data manipulation)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• OpenAI API (optional, for LLM features)  • python-pptx (presentation generation)</a:t>
            </a:r>
          </a:p>
          <a:p>
            <a:pPr algn="l"/>
          </a:p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DEPLOYMENT: Runs locally or containerized (Docker). No cloud infrastructure required for core functionality.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Appendix: Primary User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04040"/>
                </a:solidFill>
                <a:latin typeface="Calibri"/>
              </a:rPr>
              <a:t>End-to-end flow: User initiates discovery → System autonomously generates insights → Reports delivered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371600"/>
            <a:ext cx="3657600" cy="457200"/>
          </a:xfrm>
          <a:prstGeom prst="roundRect">
            <a:avLst/>
          </a:prstGeom>
          <a:solidFill>
            <a:srgbClr val="0070C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1. User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4173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Configure objective, API key (optional), # cycles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0" y="1828800"/>
            <a:ext cx="0" cy="18288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1828800" y="2011680"/>
            <a:ext cx="3657600" cy="457200"/>
          </a:xfrm>
          <a:prstGeom prst="roundRect">
            <a:avLst/>
          </a:prstGeom>
          <a:solidFill>
            <a:srgbClr val="6496C8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2. Data 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20574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Load CSV files or generate sample data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57600" y="2468880"/>
            <a:ext cx="0" cy="18288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28800" y="2651760"/>
            <a:ext cx="3657600" cy="457200"/>
          </a:xfrm>
          <a:prstGeom prst="roundRect">
            <a:avLst/>
          </a:prstGeom>
          <a:solidFill>
            <a:srgbClr val="5082B4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3. Discovery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697479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For each cycle (1-20):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0" y="3108960"/>
            <a:ext cx="0" cy="182879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828800" y="3291839"/>
            <a:ext cx="3657600" cy="457200"/>
          </a:xfrm>
          <a:prstGeom prst="roundRect">
            <a:avLst/>
          </a:prstGeom>
          <a:solidFill>
            <a:srgbClr val="B4C8DC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 3a. Generate Questions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337559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LLM or predefined research questions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57600" y="3749039"/>
            <a:ext cx="0" cy="182881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828800" y="3931920"/>
            <a:ext cx="3657600" cy="457200"/>
          </a:xfrm>
          <a:prstGeom prst="roundRect">
            <a:avLst/>
          </a:prstGeom>
          <a:solidFill>
            <a:srgbClr val="B4C8DC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 3b. Run Statistical Tests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3977639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Correlations, t-tests, ANOVA, regression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57600" y="4389120"/>
            <a:ext cx="0" cy="18288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828800" y="4572000"/>
            <a:ext cx="3657600" cy="457200"/>
          </a:xfrm>
          <a:prstGeom prst="roundRect">
            <a:avLst/>
          </a:prstGeom>
          <a:solidFill>
            <a:srgbClr val="B4C8DC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 3c. Search Literature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617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(Optional) Query knowledge base via LLM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657600" y="5029200"/>
            <a:ext cx="0" cy="18288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828800" y="5212079"/>
            <a:ext cx="3657600" cy="457200"/>
          </a:xfrm>
          <a:prstGeom prst="roundRect">
            <a:avLst/>
          </a:prstGeom>
          <a:solidFill>
            <a:srgbClr val="B4C8DC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 3d. Synthesize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5257799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Combine stats + literature → discoveries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57600" y="5669279"/>
            <a:ext cx="0" cy="18288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828800" y="5852159"/>
            <a:ext cx="3657600" cy="457200"/>
          </a:xfrm>
          <a:prstGeom prst="roundRect">
            <a:avLst/>
          </a:prstGeom>
          <a:solidFill>
            <a:srgbClr val="B4C8DC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 3e. Update World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5897879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Add discoveries &amp; trajectories to graph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657600" y="6309359"/>
            <a:ext cx="0" cy="182881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828800" y="6492240"/>
            <a:ext cx="3657600" cy="457200"/>
          </a:xfrm>
          <a:prstGeom prst="roundRect">
            <a:avLst/>
          </a:prstGeom>
          <a:solidFill>
            <a:srgbClr val="6496C8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4. Generate Report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6537959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Extract statistics, format enhanced report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657600" y="6949440"/>
            <a:ext cx="0" cy="18288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828800" y="7132320"/>
            <a:ext cx="3657600" cy="457200"/>
          </a:xfrm>
          <a:prstGeom prst="roundRect">
            <a:avLst/>
          </a:prstGeom>
          <a:solidFill>
            <a:srgbClr val="0070C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5. Deliver Outputs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71780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Dashboard + TXT report + JSON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7315200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TYPICAL TIMING: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• 5 cycles with LLM: ~10-20 min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• 5 cycles statistical-only: ~2-5 min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• Scales with data size &amp; API latency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Appendix: Deployment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3200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Calibri"/>
              </a:rPr>
              <a:t>LOCAL DEVELOPMENT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0" cy="1097280"/>
          </a:xfrm>
          <a:prstGeom prst="roundRect">
            <a:avLst/>
          </a:prstGeom>
          <a:solidFill>
            <a:srgbClr val="E6F0FA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Python Environment</a:t>
            </a:r>
          </a:p>
          <a:p>
            <a:pPr algn="ctr"/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Streamlit dev server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Local file storage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Direct OpenAI calls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No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404040"/>
                </a:solidFill>
                <a:latin typeface="Calibri"/>
              </a:rPr>
              <a:t>Run: streamlit run</a:t>
            </a:r>
          </a:p>
          <a:p>
            <a:pPr algn="ctr"/>
            <a:r>
              <a:rPr sz="800" b="0">
                <a:solidFill>
                  <a:srgbClr val="404040"/>
                </a:solidFill>
                <a:latin typeface="Calibri"/>
              </a:rPr>
              <a:t>streamlit_app_ULTIMATE.py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097280"/>
            <a:ext cx="3200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Calibri"/>
              </a:rPr>
              <a:t>CONTAINERIZED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200400" cy="1097280"/>
          </a:xfrm>
          <a:prstGeom prst="roundRect">
            <a:avLst/>
          </a:prstGeom>
          <a:solidFill>
            <a:srgbClr val="E6F0FA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Docker Container</a:t>
            </a:r>
          </a:p>
          <a:p>
            <a:pPr algn="ctr"/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Dockerfile included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Isolated dependencies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Volume mounts for data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Port 8501 exposed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5603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404040"/>
                </a:solidFill>
                <a:latin typeface="Calibri"/>
              </a:rPr>
              <a:t>Run: docker build &amp; run</a:t>
            </a:r>
          </a:p>
          <a:p>
            <a:pPr algn="ctr"/>
            <a:r>
              <a:rPr sz="800" b="0">
                <a:solidFill>
                  <a:srgbClr val="404040"/>
                </a:solidFill>
                <a:latin typeface="Calibri"/>
              </a:rPr>
              <a:t>(see Dockerfile if exists)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097280"/>
            <a:ext cx="3200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Calibri"/>
              </a:rPr>
              <a:t>CLOUD (Optional)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200400" cy="1097280"/>
          </a:xfrm>
          <a:prstGeom prst="roundRect">
            <a:avLst/>
          </a:prstGeom>
          <a:solidFill>
            <a:srgbClr val="E6F0FA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Cloud Deployment</a:t>
            </a:r>
          </a:p>
          <a:p>
            <a:pPr algn="ctr"/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AWS/GCP/Azure VM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S3/GCS for data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Secrets manager for keys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Load balancer (if scaled)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5603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404040"/>
                </a:solidFill>
                <a:latin typeface="Calibri"/>
              </a:rPr>
              <a:t>Deploy: Cloud-specific</a:t>
            </a:r>
          </a:p>
          <a:p>
            <a:pPr algn="ctr"/>
            <a:r>
              <a:rPr sz="800" b="0">
                <a:solidFill>
                  <a:srgbClr val="404040"/>
                </a:solidFill>
                <a:latin typeface="Calibri"/>
              </a:rPr>
              <a:t>(Terraform/Helm if infra exists)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CONFIGURATION &amp; SECRETS:</a:t>
            </a:r>
          </a:p>
          <a:p>
            <a:pPr algn="l"/>
          </a:p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• OpenAI API Key: Set in config.py or via Streamlit UI (saved to session)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• Data Sources: CSV files in data/ directory or auto-generated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• Literature KB: JSON index + text files in knowledge/literature/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• Outputs: world_model.json &amp; auto_enhanced_report.txt in base directory</a:t>
            </a:r>
          </a:p>
          <a:p>
            <a:pPr algn="l"/>
          </a:p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SECURITY NOTE: API keys are stored in config.py (local file). For production, use environment variables or secrets manager.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