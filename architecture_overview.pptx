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404040"/>
                </a:solidFill>
                <a:latin typeface="Calibri"/>
              </a:defRPr>
            </a:pPr>
            <a:r>
              <a:t>Agentic Insights: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08080"/>
                </a:solidFill>
                <a:latin typeface="Calibri"/>
              </a:defRPr>
            </a:pPr>
            <a:r>
              <a:t>AI-powered autonomous discovery with statistical rigor and LLM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286000" cy="4389120"/>
          </a:xfrm>
          <a:prstGeom prst="rect">
            <a:avLst/>
          </a:prstGeom>
          <a:solidFill>
            <a:srgbClr val="F5F5F5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808080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371600"/>
            <a:ext cx="3200400" cy="4389120"/>
          </a:xfrm>
          <a:prstGeom prst="rect">
            <a:avLst/>
          </a:prstGeom>
          <a:solidFill>
            <a:srgbClr val="F5F5F5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808080"/>
                </a:solidFill>
                <a:latin typeface="Calibri"/>
              </a:defRPr>
            </a:pPr>
            <a:r>
              <a:t>Processing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371600"/>
            <a:ext cx="2560320" cy="4389120"/>
          </a:xfrm>
          <a:prstGeom prst="rect">
            <a:avLst/>
          </a:prstGeom>
          <a:solidFill>
            <a:srgbClr val="F5F5F5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808080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1371600"/>
            <a:ext cx="2286000" cy="4389120"/>
          </a:xfrm>
          <a:prstGeom prst="rect">
            <a:avLst/>
          </a:prstGeom>
          <a:solidFill>
            <a:srgbClr val="F5F5F5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11887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808080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2" name="Can 11"/>
          <p:cNvSpPr/>
          <p:nvPr/>
        </p:nvSpPr>
        <p:spPr>
          <a:xfrm>
            <a:off x="1508760" y="2103120"/>
            <a:ext cx="731520" cy="731520"/>
          </a:xfrm>
          <a:prstGeom prst="can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Customer</a:t>
            </a:r>
          </a:p>
          <a:p>
            <a:r>
              <a:t>Data CSV</a:t>
            </a:r>
          </a:p>
        </p:txBody>
      </p:sp>
      <p:sp>
        <p:nvSpPr>
          <p:cNvPr id="13" name="Can 12"/>
          <p:cNvSpPr/>
          <p:nvPr/>
        </p:nvSpPr>
        <p:spPr>
          <a:xfrm>
            <a:off x="1508760" y="3200400"/>
            <a:ext cx="731520" cy="731520"/>
          </a:xfrm>
          <a:prstGeom prst="can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Literature</a:t>
            </a:r>
          </a:p>
          <a:p>
            <a:r>
              <a:t>Index</a:t>
            </a:r>
          </a:p>
        </p:txBody>
      </p:sp>
      <p:sp>
        <p:nvSpPr>
          <p:cNvPr id="14" name="Hexagon 13"/>
          <p:cNvSpPr/>
          <p:nvPr/>
        </p:nvSpPr>
        <p:spPr>
          <a:xfrm>
            <a:off x="1508760" y="4297679"/>
            <a:ext cx="731520" cy="731520"/>
          </a:xfrm>
          <a:prstGeom prst="hexagon">
            <a:avLst/>
          </a:prstGeom>
          <a:solidFill>
            <a:srgbClr val="FFFACD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OpenAI</a:t>
            </a:r>
          </a:p>
          <a:p>
            <a:r>
              <a:t>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883664"/>
            <a:ext cx="7315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Streamlit</a:t>
            </a:r>
          </a:p>
          <a:p>
            <a:r>
              <a:t>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761488"/>
            <a:ext cx="7315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Data</a:t>
            </a:r>
          </a:p>
          <a:p>
            <a:r>
              <a:t>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3639312"/>
            <a:ext cx="7315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Literature</a:t>
            </a:r>
          </a:p>
          <a:p>
            <a:r>
              <a:t>Searcher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4517136"/>
            <a:ext cx="7315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Statistical</a:t>
            </a:r>
          </a:p>
          <a:p>
            <a:r>
              <a:t>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2468879"/>
            <a:ext cx="7315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World</a:t>
            </a:r>
          </a:p>
          <a:p>
            <a:r>
              <a:t>Model</a:t>
            </a:r>
          </a:p>
        </p:txBody>
      </p:sp>
      <p:sp>
        <p:nvSpPr>
          <p:cNvPr id="20" name="Can 19"/>
          <p:cNvSpPr/>
          <p:nvPr/>
        </p:nvSpPr>
        <p:spPr>
          <a:xfrm>
            <a:off x="7498079" y="3931919"/>
            <a:ext cx="731520" cy="731520"/>
          </a:xfrm>
          <a:prstGeom prst="can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Session</a:t>
            </a:r>
          </a:p>
          <a:p>
            <a:r>
              <a:t>State</a:t>
            </a:r>
          </a:p>
        </p:txBody>
      </p:sp>
      <p:sp>
        <p:nvSpPr>
          <p:cNvPr id="21" name="Parallelogram 20"/>
          <p:cNvSpPr/>
          <p:nvPr/>
        </p:nvSpPr>
        <p:spPr>
          <a:xfrm>
            <a:off x="10104119" y="2103120"/>
            <a:ext cx="731520" cy="731520"/>
          </a:xfrm>
          <a:prstGeom prst="parallelogram">
            <a:avLst/>
          </a:prstGeom>
          <a:solidFill>
            <a:srgbClr val="E6F0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Enhanced</a:t>
            </a:r>
          </a:p>
          <a:p>
            <a:r>
              <a:t>Report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10104119" y="3200400"/>
            <a:ext cx="731520" cy="731520"/>
          </a:xfrm>
          <a:prstGeom prst="parallelogram">
            <a:avLst/>
          </a:prstGeom>
          <a:solidFill>
            <a:srgbClr val="E6F0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Generated</a:t>
            </a:r>
          </a:p>
          <a:p>
            <a:r>
              <a:t>Code</a:t>
            </a:r>
          </a:p>
        </p:txBody>
      </p:sp>
      <p:sp>
        <p:nvSpPr>
          <p:cNvPr id="23" name="Parallelogram 22"/>
          <p:cNvSpPr/>
          <p:nvPr/>
        </p:nvSpPr>
        <p:spPr>
          <a:xfrm>
            <a:off x="10104119" y="4297679"/>
            <a:ext cx="731520" cy="731520"/>
          </a:xfrm>
          <a:prstGeom prst="parallelogram">
            <a:avLst/>
          </a:prstGeom>
          <a:solidFill>
            <a:srgbClr val="E6F0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04040"/>
                </a:solidFill>
                <a:latin typeface="Calibri"/>
              </a:defRPr>
            </a:pPr>
            <a:r>
              <a:t>Interactive</a:t>
            </a:r>
          </a:p>
          <a:p>
            <a:r>
              <a:t>Dashboard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874519" y="2249424"/>
            <a:ext cx="2926081" cy="219456"/>
          </a:xfrm>
          <a:prstGeom prst="line">
            <a:avLst/>
          </a:prstGeom>
          <a:ln w="254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74519" y="3566160"/>
            <a:ext cx="2926081" cy="438912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00600" y="2249424"/>
            <a:ext cx="0" cy="877824"/>
          </a:xfrm>
          <a:prstGeom prst="line">
            <a:avLst/>
          </a:prstGeom>
          <a:ln w="254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800600" y="2249424"/>
            <a:ext cx="0" cy="1755648"/>
          </a:xfrm>
          <a:prstGeom prst="line">
            <a:avLst/>
          </a:prstGeom>
          <a:ln w="12700">
            <a:solidFill>
              <a:srgbClr val="80808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874519" y="3127248"/>
            <a:ext cx="2926081" cy="1536192"/>
          </a:xfrm>
          <a:prstGeom prst="line">
            <a:avLst/>
          </a:prstGeom>
          <a:ln w="19050">
            <a:solidFill>
              <a:srgbClr val="80808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874519" y="4005072"/>
            <a:ext cx="2926081" cy="658368"/>
          </a:xfrm>
          <a:prstGeom prst="line">
            <a:avLst/>
          </a:prstGeom>
          <a:ln w="19050">
            <a:solidFill>
              <a:srgbClr val="80808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874519" y="2249424"/>
            <a:ext cx="2926081" cy="2414016"/>
          </a:xfrm>
          <a:prstGeom prst="line">
            <a:avLst/>
          </a:prstGeom>
          <a:ln w="12700">
            <a:solidFill>
              <a:srgbClr val="80808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800600" y="3127248"/>
            <a:ext cx="0" cy="1755648"/>
          </a:xfrm>
          <a:prstGeom prst="line">
            <a:avLst/>
          </a:prstGeom>
          <a:ln w="254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00600" y="2834639"/>
            <a:ext cx="3063240" cy="2048257"/>
          </a:xfrm>
          <a:prstGeom prst="line">
            <a:avLst/>
          </a:prstGeom>
          <a:ln w="254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63840" y="2834639"/>
            <a:ext cx="0" cy="146304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863840" y="2468880"/>
            <a:ext cx="2606040" cy="365759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00600" y="3127248"/>
            <a:ext cx="5669280" cy="438912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63840" y="4297679"/>
            <a:ext cx="2606040" cy="365761"/>
          </a:xfrm>
          <a:prstGeom prst="line">
            <a:avLst/>
          </a:prstGeom>
          <a:ln w="254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863840" y="2834639"/>
            <a:ext cx="2606040" cy="1828801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601200" y="5943600"/>
            <a:ext cx="21031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92640" y="5989320"/>
            <a:ext cx="1920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04040"/>
                </a:solidFill>
                <a:latin typeface="Calibri"/>
              </a:defRPr>
            </a:pPr>
            <a:r>
              <a:t>Legend</a:t>
            </a:r>
          </a:p>
          <a:p>
            <a:pPr>
              <a:defRPr sz="900">
                <a:solidFill>
                  <a:srgbClr val="404040"/>
                </a:solidFill>
                <a:latin typeface="Calibri"/>
              </a:defRPr>
            </a:pPr>
            <a:r>
              <a:t>━━ Verified  ┄┄ Inferred</a:t>
            </a:r>
          </a:p>
          <a:p>
            <a:pPr>
              <a:defRPr sz="900">
                <a:solidFill>
                  <a:srgbClr val="404040"/>
                </a:solidFill>
                <a:latin typeface="Calibri"/>
              </a:defRPr>
            </a:pPr>
            <a:r>
              <a:t>▭ Module  ⬢ External  ▱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