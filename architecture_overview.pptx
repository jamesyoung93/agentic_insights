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02060"/>
                </a:solidFill>
              </a:defRPr>
            </a:pPr>
            <a:r>
              <a:t>Kosmos AI Scientist: Autonomous Data-Driven Discovery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404040"/>
                </a:solidFill>
              </a:defRPr>
            </a:pPr>
            <a:r>
              <a:t>Transforms customer data into statistically-validated business insights through automated discovery cycles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188720"/>
            <a:ext cx="1737360" cy="4389120"/>
          </a:xfrm>
          <a:prstGeom prst="rect">
            <a:avLst/>
          </a:prstGeom>
          <a:solidFill>
            <a:srgbClr val="F5F5F5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15544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002060"/>
                </a:solidFill>
              </a:defRPr>
            </a:pPr>
            <a:r>
              <a:t>DATA SOURCES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194560" y="1188720"/>
            <a:ext cx="1828800" cy="4389120"/>
          </a:xfrm>
          <a:prstGeom prst="rect">
            <a:avLst/>
          </a:prstGeom>
          <a:solidFill>
            <a:srgbClr val="F5F5F5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0" y="1234440"/>
            <a:ext cx="164592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002060"/>
                </a:solidFill>
              </a:defRPr>
            </a:pPr>
            <a:r>
              <a:t>INGESTION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1188720"/>
            <a:ext cx="3291840" cy="4389120"/>
          </a:xfrm>
          <a:prstGeom prst="rect">
            <a:avLst/>
          </a:prstGeom>
          <a:solidFill>
            <a:srgbClr val="F5F5F5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79" y="1234440"/>
            <a:ext cx="31089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002060"/>
                </a:solidFill>
              </a:defRPr>
            </a:pPr>
            <a:r>
              <a:t>CORE PROCESSING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0" y="1188720"/>
            <a:ext cx="2011680" cy="4389120"/>
          </a:xfrm>
          <a:prstGeom prst="rect">
            <a:avLst/>
          </a:prstGeom>
          <a:solidFill>
            <a:srgbClr val="F5F5F5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0" y="123444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002060"/>
                </a:solidFill>
              </a:defRPr>
            </a:pPr>
            <a:r>
              <a:t>STORAGE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692640" y="1188720"/>
            <a:ext cx="2011680" cy="4389120"/>
          </a:xfrm>
          <a:prstGeom prst="rect">
            <a:avLst/>
          </a:prstGeom>
          <a:solidFill>
            <a:srgbClr val="F5F5F5"/>
          </a:solidFill>
          <a:ln w="1270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0" y="123444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002060"/>
                </a:solidFill>
              </a:defRPr>
            </a:pPr>
            <a:r>
              <a:t>OUTPUTS</a:t>
            </a:r>
          </a:p>
        </p:txBody>
      </p:sp>
      <p:sp>
        <p:nvSpPr>
          <p:cNvPr id="14" name="Data 13"/>
          <p:cNvSpPr/>
          <p:nvPr/>
        </p:nvSpPr>
        <p:spPr>
          <a:xfrm>
            <a:off x="457200" y="1645920"/>
            <a:ext cx="1554480" cy="640080"/>
          </a:xfrm>
          <a:prstGeom prst="flowChartInputOutput">
            <a:avLst/>
          </a:prstGeom>
          <a:solidFill>
            <a:srgbClr val="E6F0FF"/>
          </a:solidFill>
          <a:ln w="1905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404040"/>
                </a:solidFill>
              </a:defRPr>
            </a:pPr>
            <a:r>
              <a:t>CSV Files</a:t>
            </a:r>
          </a:p>
          <a:p>
            <a:pPr algn="ctr">
              <a:defRPr sz="900" b="1">
                <a:solidFill>
                  <a:srgbClr val="404040"/>
                </a:solidFill>
              </a:defRPr>
            </a:pPr>
            <a:r>
              <a:t>customers.csv</a:t>
            </a:r>
          </a:p>
          <a:p>
            <a:pPr algn="ctr">
              <a:defRPr sz="900" b="1">
                <a:solidFill>
                  <a:srgbClr val="404040"/>
                </a:solidFill>
              </a:defRPr>
            </a:pPr>
            <a:r>
              <a:t>competitor_data.csv</a:t>
            </a:r>
          </a:p>
        </p:txBody>
      </p:sp>
      <p:sp>
        <p:nvSpPr>
          <p:cNvPr id="15" name="Data 14"/>
          <p:cNvSpPr/>
          <p:nvPr/>
        </p:nvSpPr>
        <p:spPr>
          <a:xfrm>
            <a:off x="457200" y="2743200"/>
            <a:ext cx="1554480" cy="640080"/>
          </a:xfrm>
          <a:prstGeom prst="flowChartInputOutput">
            <a:avLst/>
          </a:prstGeom>
          <a:solidFill>
            <a:srgbClr val="E6F0FF"/>
          </a:solidFill>
          <a:ln w="1905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404040"/>
                </a:solidFill>
              </a:defRPr>
            </a:pPr>
            <a:r>
              <a:t>Literature KB</a:t>
            </a:r>
          </a:p>
          <a:p>
            <a:pPr algn="ctr">
              <a:defRPr sz="900" b="1">
                <a:solidFill>
                  <a:srgbClr val="404040"/>
                </a:solidFill>
              </a:defRPr>
            </a:pPr>
            <a:r>
              <a:t>knowledge/</a:t>
            </a:r>
          </a:p>
          <a:p>
            <a:pPr algn="ctr">
              <a:defRPr sz="900" b="1">
                <a:solidFill>
                  <a:srgbClr val="404040"/>
                </a:solidFill>
              </a:defRPr>
            </a:pPr>
            <a:r>
              <a:t>literature/</a:t>
            </a:r>
          </a:p>
        </p:txBody>
      </p:sp>
      <p:sp>
        <p:nvSpPr>
          <p:cNvPr id="16" name="Hexagon 15"/>
          <p:cNvSpPr/>
          <p:nvPr/>
        </p:nvSpPr>
        <p:spPr>
          <a:xfrm>
            <a:off x="457200" y="3840480"/>
            <a:ext cx="1554480" cy="640080"/>
          </a:xfrm>
          <a:prstGeom prst="hexagon">
            <a:avLst/>
          </a:prstGeom>
          <a:solidFill>
            <a:srgbClr val="FFF5E6"/>
          </a:solidFill>
          <a:ln w="1905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404040"/>
                </a:solidFill>
              </a:defRPr>
            </a:pPr>
            <a:r>
              <a:t>OpenAI API</a:t>
            </a:r>
          </a:p>
          <a:p>
            <a:pPr algn="ctr">
              <a:defRPr sz="900" b="1">
                <a:solidFill>
                  <a:srgbClr val="404040"/>
                </a:solidFill>
              </a:defRPr>
            </a:pPr>
            <a:r>
              <a:t>GPT-3.5/4</a:t>
            </a:r>
          </a:p>
          <a:p>
            <a:pPr algn="ctr">
              <a:defRPr sz="900" b="1">
                <a:solidFill>
                  <a:srgbClr val="404040"/>
                </a:solidFill>
              </a:defRPr>
            </a:pPr>
            <a:r>
              <a:t>(Optional)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86000" y="1645920"/>
            <a:ext cx="1554480" cy="1097280"/>
          </a:xfrm>
          <a:prstGeom prst="roundRect">
            <a:avLst/>
          </a:prstGeom>
          <a:solidFill>
            <a:srgbClr val="DCE6F0"/>
          </a:solidFill>
          <a:ln w="1905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404040"/>
                </a:solidFill>
              </a:defRPr>
            </a:pPr>
            <a:r>
              <a:t>Data Ingestion</a:t>
            </a:r>
          </a:p>
          <a:p>
            <a:pPr algn="ctr">
              <a:defRPr sz="900" b="1">
                <a:solidFill>
                  <a:srgbClr val="404040"/>
                </a:solidFill>
              </a:defRPr>
            </a:pPr>
            <a:r>
              <a:t>&amp; Preprocessing</a:t>
            </a:r>
          </a:p>
          <a:p>
            <a:pPr algn="ctr">
              <a:defRPr sz="900" b="1">
                <a:solidFill>
                  <a:srgbClr val="404040"/>
                </a:solidFill>
              </a:defRPr>
            </a:pPr>
          </a:p>
          <a:p>
            <a:pPr algn="ctr">
              <a:defRPr sz="900" b="1">
                <a:solidFill>
                  <a:srgbClr val="404040"/>
                </a:solidFill>
              </a:defRPr>
            </a:pPr>
            <a:r>
              <a:t>Merge + Clean</a:t>
            </a:r>
          </a:p>
          <a:p>
            <a:pPr algn="ctr">
              <a:defRPr sz="900" b="1">
                <a:solidFill>
                  <a:srgbClr val="404040"/>
                </a:solidFill>
              </a:defRPr>
            </a:pPr>
            <a:r>
              <a:t>Impute + Engineer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9120" y="1463040"/>
            <a:ext cx="1371600" cy="822960"/>
          </a:xfrm>
          <a:prstGeom prst="roundRect">
            <a:avLst/>
          </a:prstGeom>
          <a:solidFill>
            <a:srgbClr val="007BFF"/>
          </a:solidFill>
          <a:ln w="19050">
            <a:solidFill>
              <a:srgbClr val="007B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Discovery Cycle</a:t>
            </a:r>
          </a:p>
          <a:p>
            <a:pPr algn="ctr">
              <a:defRPr sz="900" b="1">
                <a:solidFill>
                  <a:srgbClr val="FFFFFF"/>
                </a:solidFill>
              </a:defRPr>
            </a:pPr>
            <a:r>
              <a:t>Engine</a:t>
            </a:r>
          </a:p>
          <a:p>
            <a:pPr algn="ctr">
              <a:defRPr sz="900" b="1">
                <a:solidFill>
                  <a:srgbClr val="FFFFFF"/>
                </a:solidFill>
              </a:defRPr>
            </a:pPr>
          </a:p>
          <a:p>
            <a:pPr algn="ctr">
              <a:defRPr sz="900" b="1">
                <a:solidFill>
                  <a:srgbClr val="FFFFFF"/>
                </a:solidFill>
              </a:defRPr>
            </a:pPr>
            <a:r>
              <a:t>Orchestrates</a:t>
            </a:r>
          </a:p>
          <a:p>
            <a:pPr algn="ctr">
              <a:defRPr sz="900" b="1">
                <a:solidFill>
                  <a:srgbClr val="FFFFFF"/>
                </a:solidFill>
              </a:defRPr>
            </a:pPr>
            <a:r>
              <a:t>Q-&gt;A-&gt;S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463040"/>
            <a:ext cx="1371600" cy="822960"/>
          </a:xfrm>
          <a:prstGeom prst="roundRect">
            <a:avLst/>
          </a:prstGeom>
          <a:solidFill>
            <a:srgbClr val="DCE6F0"/>
          </a:solidFill>
          <a:ln w="1905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404040"/>
                </a:solidFill>
              </a:defRPr>
            </a:pPr>
            <a:r>
              <a:t>Statistical</a:t>
            </a:r>
          </a:p>
          <a:p>
            <a:pPr algn="ctr">
              <a:defRPr sz="900" b="1">
                <a:solidFill>
                  <a:srgbClr val="404040"/>
                </a:solidFill>
              </a:defRPr>
            </a:pPr>
            <a:r>
              <a:t>Analysis</a:t>
            </a:r>
          </a:p>
          <a:p>
            <a:pPr algn="ctr">
              <a:defRPr sz="900" b="1">
                <a:solidFill>
                  <a:srgbClr val="404040"/>
                </a:solidFill>
              </a:defRPr>
            </a:pPr>
          </a:p>
          <a:p>
            <a:pPr algn="ctr">
              <a:defRPr sz="900" b="1">
                <a:solidFill>
                  <a:srgbClr val="404040"/>
                </a:solidFill>
              </a:defRPr>
            </a:pPr>
            <a:r>
              <a:t>scipy + numpy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89120" y="2560320"/>
            <a:ext cx="1371600" cy="731520"/>
          </a:xfrm>
          <a:prstGeom prst="roundRect">
            <a:avLst/>
          </a:prstGeom>
          <a:solidFill>
            <a:srgbClr val="DCE6F0"/>
          </a:solidFill>
          <a:ln w="1905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404040"/>
                </a:solidFill>
              </a:defRPr>
            </a:pPr>
            <a:r>
              <a:t>Literature</a:t>
            </a:r>
          </a:p>
          <a:p>
            <a:pPr algn="ctr">
              <a:defRPr sz="900" b="1">
                <a:solidFill>
                  <a:srgbClr val="404040"/>
                </a:solidFill>
              </a:defRPr>
            </a:pPr>
            <a:r>
              <a:t>Search Agent</a:t>
            </a:r>
          </a:p>
          <a:p>
            <a:pPr algn="ctr">
              <a:defRPr sz="900" b="1">
                <a:solidFill>
                  <a:srgbClr val="404040"/>
                </a:solidFill>
              </a:defRPr>
            </a:pPr>
          </a:p>
          <a:p>
            <a:pPr algn="ctr">
              <a:defRPr sz="900" b="1">
                <a:solidFill>
                  <a:srgbClr val="404040"/>
                </a:solidFill>
              </a:defRPr>
            </a:pPr>
            <a:r>
              <a:t>LLM-powered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2560320"/>
            <a:ext cx="1371600" cy="731520"/>
          </a:xfrm>
          <a:prstGeom prst="roundRect">
            <a:avLst/>
          </a:prstGeom>
          <a:solidFill>
            <a:srgbClr val="DCE6F0"/>
          </a:solidFill>
          <a:ln w="1905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404040"/>
                </a:solidFill>
              </a:defRPr>
            </a:pPr>
            <a:r>
              <a:t>Discovery</a:t>
            </a:r>
          </a:p>
          <a:p>
            <a:pPr algn="ctr">
              <a:defRPr sz="900" b="1">
                <a:solidFill>
                  <a:srgbClr val="404040"/>
                </a:solidFill>
              </a:defRPr>
            </a:pPr>
            <a:r>
              <a:t>Synthesis</a:t>
            </a:r>
          </a:p>
          <a:p>
            <a:pPr algn="ctr">
              <a:defRPr sz="900" b="1">
                <a:solidFill>
                  <a:srgbClr val="404040"/>
                </a:solidFill>
              </a:defRPr>
            </a:pPr>
          </a:p>
          <a:p>
            <a:pPr algn="ctr">
              <a:defRPr sz="900" b="1">
                <a:solidFill>
                  <a:srgbClr val="404040"/>
                </a:solidFill>
              </a:defRPr>
            </a:pPr>
            <a:r>
              <a:t>LLM insights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3566160"/>
            <a:ext cx="1371600" cy="731520"/>
          </a:xfrm>
          <a:prstGeom prst="roundRect">
            <a:avLst/>
          </a:prstGeom>
          <a:solidFill>
            <a:srgbClr val="DCE6F0"/>
          </a:solidFill>
          <a:ln w="1905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404040"/>
                </a:solidFill>
              </a:defRPr>
            </a:pPr>
            <a:r>
              <a:t>Report</a:t>
            </a:r>
          </a:p>
          <a:p>
            <a:pPr algn="ctr">
              <a:defRPr sz="900" b="1">
                <a:solidFill>
                  <a:srgbClr val="404040"/>
                </a:solidFill>
              </a:defRPr>
            </a:pPr>
            <a:r>
              <a:t>Generator</a:t>
            </a:r>
          </a:p>
          <a:p>
            <a:pPr algn="ctr">
              <a:defRPr sz="900" b="1">
                <a:solidFill>
                  <a:srgbClr val="404040"/>
                </a:solidFill>
              </a:defRPr>
            </a:pPr>
          </a:p>
          <a:p>
            <a:pPr algn="ctr">
              <a:defRPr sz="900" b="1">
                <a:solidFill>
                  <a:srgbClr val="404040"/>
                </a:solidFill>
              </a:defRPr>
            </a:pPr>
            <a:r>
              <a:t>Extract stats</a:t>
            </a:r>
          </a:p>
        </p:txBody>
      </p:sp>
      <p:sp>
        <p:nvSpPr>
          <p:cNvPr id="23" name="Data 22"/>
          <p:cNvSpPr/>
          <p:nvPr/>
        </p:nvSpPr>
        <p:spPr>
          <a:xfrm>
            <a:off x="7772400" y="1828800"/>
            <a:ext cx="1645920" cy="1371600"/>
          </a:xfrm>
          <a:prstGeom prst="flowChartInputOutput">
            <a:avLst/>
          </a:prstGeom>
          <a:solidFill>
            <a:srgbClr val="FFFADC"/>
          </a:solidFill>
          <a:ln w="1905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404040"/>
                </a:solidFill>
              </a:defRPr>
            </a:pPr>
            <a:r>
              <a:t>World Model</a:t>
            </a:r>
          </a:p>
          <a:p>
            <a:pPr algn="ctr">
              <a:defRPr sz="900" b="1">
                <a:solidFill>
                  <a:srgbClr val="404040"/>
                </a:solidFill>
              </a:defRPr>
            </a:pPr>
            <a:r>
              <a:t>(Knowledge State)</a:t>
            </a:r>
          </a:p>
          <a:p>
            <a:pPr algn="ctr">
              <a:defRPr sz="900" b="1">
                <a:solidFill>
                  <a:srgbClr val="404040"/>
                </a:solidFill>
              </a:defRPr>
            </a:pPr>
          </a:p>
          <a:p>
            <a:pPr algn="ctr">
              <a:defRPr sz="900" b="1">
                <a:solidFill>
                  <a:srgbClr val="404040"/>
                </a:solidFill>
              </a:defRPr>
            </a:pPr>
            <a:r>
              <a:t>Discoveries</a:t>
            </a:r>
          </a:p>
          <a:p>
            <a:pPr algn="ctr">
              <a:defRPr sz="900" b="1">
                <a:solidFill>
                  <a:srgbClr val="404040"/>
                </a:solidFill>
              </a:defRPr>
            </a:pPr>
            <a:r>
              <a:t>Trajectories</a:t>
            </a:r>
          </a:p>
          <a:p>
            <a:pPr algn="ctr">
              <a:defRPr sz="900" b="1">
                <a:solidFill>
                  <a:srgbClr val="404040"/>
                </a:solidFill>
              </a:defRPr>
            </a:pPr>
            <a:r>
              <a:t>Hypotheses</a:t>
            </a:r>
          </a:p>
        </p:txBody>
      </p:sp>
      <p:sp>
        <p:nvSpPr>
          <p:cNvPr id="24" name="Parallelogram 23"/>
          <p:cNvSpPr/>
          <p:nvPr/>
        </p:nvSpPr>
        <p:spPr>
          <a:xfrm>
            <a:off x="9875520" y="1463040"/>
            <a:ext cx="1645920" cy="731520"/>
          </a:xfrm>
          <a:prstGeom prst="parallelogram">
            <a:avLst/>
          </a:prstGeom>
          <a:solidFill>
            <a:srgbClr val="00B050"/>
          </a:solidFill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Streamlit</a:t>
            </a:r>
          </a:p>
          <a:p>
            <a:pPr algn="ctr">
              <a:defRPr sz="900" b="1">
                <a:solidFill>
                  <a:srgbClr val="FFFFFF"/>
                </a:solidFill>
              </a:defRPr>
            </a:pPr>
            <a:r>
              <a:t>Web UI</a:t>
            </a:r>
          </a:p>
          <a:p>
            <a:pPr algn="ctr">
              <a:defRPr sz="900" b="1">
                <a:solidFill>
                  <a:srgbClr val="FFFFFF"/>
                </a:solidFill>
              </a:defRPr>
            </a:pPr>
          </a:p>
          <a:p>
            <a:pPr algn="ctr">
              <a:defRPr sz="900" b="1">
                <a:solidFill>
                  <a:srgbClr val="FFFFFF"/>
                </a:solidFill>
              </a:defRPr>
            </a:pPr>
            <a:r>
              <a:t>Interactive</a:t>
            </a:r>
          </a:p>
        </p:txBody>
      </p:sp>
      <p:sp>
        <p:nvSpPr>
          <p:cNvPr id="25" name="Parallelogram 24"/>
          <p:cNvSpPr/>
          <p:nvPr/>
        </p:nvSpPr>
        <p:spPr>
          <a:xfrm>
            <a:off x="9875520" y="2468880"/>
            <a:ext cx="1645920" cy="731520"/>
          </a:xfrm>
          <a:prstGeom prst="parallelogram">
            <a:avLst/>
          </a:prstGeom>
          <a:solidFill>
            <a:srgbClr val="00B050"/>
          </a:solidFill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Discovery</a:t>
            </a:r>
          </a:p>
          <a:p>
            <a:pPr algn="ctr">
              <a:defRPr sz="900" b="1">
                <a:solidFill>
                  <a:srgbClr val="FFFFFF"/>
                </a:solidFill>
              </a:defRPr>
            </a:pPr>
            <a:r>
              <a:t>Reports</a:t>
            </a:r>
          </a:p>
          <a:p>
            <a:pPr algn="ctr">
              <a:defRPr sz="900" b="1">
                <a:solidFill>
                  <a:srgbClr val="FFFFFF"/>
                </a:solidFill>
              </a:defRPr>
            </a:pPr>
          </a:p>
          <a:p>
            <a:pPr algn="ctr">
              <a:defRPr sz="900" b="1">
                <a:solidFill>
                  <a:srgbClr val="FFFFFF"/>
                </a:solidFill>
              </a:defRPr>
            </a:pPr>
            <a:r>
              <a:t>.txt files</a:t>
            </a:r>
          </a:p>
        </p:txBody>
      </p:sp>
      <p:sp>
        <p:nvSpPr>
          <p:cNvPr id="26" name="Parallelogram 25"/>
          <p:cNvSpPr/>
          <p:nvPr/>
        </p:nvSpPr>
        <p:spPr>
          <a:xfrm>
            <a:off x="9875520" y="3474720"/>
            <a:ext cx="1645920" cy="731520"/>
          </a:xfrm>
          <a:prstGeom prst="parallelogram">
            <a:avLst/>
          </a:prstGeom>
          <a:solidFill>
            <a:srgbClr val="00B050"/>
          </a:solidFill>
          <a:ln w="19050">
            <a:solidFill>
              <a:srgbClr val="00B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World Model</a:t>
            </a:r>
          </a:p>
          <a:p>
            <a:pPr algn="ctr">
              <a:defRPr sz="900" b="1">
                <a:solidFill>
                  <a:srgbClr val="FFFFFF"/>
                </a:solidFill>
              </a:defRPr>
            </a:pPr>
            <a:r>
              <a:t>JSON</a:t>
            </a:r>
          </a:p>
          <a:p>
            <a:pPr algn="ctr">
              <a:defRPr sz="900" b="1">
                <a:solidFill>
                  <a:srgbClr val="FFFFFF"/>
                </a:solidFill>
              </a:defRPr>
            </a:pPr>
          </a:p>
          <a:p>
            <a:pPr algn="ctr">
              <a:defRPr sz="900" b="1">
                <a:solidFill>
                  <a:srgbClr val="FFFFFF"/>
                </a:solidFill>
              </a:defRPr>
            </a:pPr>
            <a:r>
              <a:t>Persistent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11680" y="1965960"/>
            <a:ext cx="274320" cy="228600"/>
          </a:xfrm>
          <a:prstGeom prst="line">
            <a:avLst/>
          </a:prstGeom>
          <a:ln w="254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691640" y="180593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007BFF"/>
                </a:solidFill>
              </a:defRPr>
            </a:pPr>
            <a:r>
              <a:t>CSV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3840480" y="1874519"/>
            <a:ext cx="548640" cy="320041"/>
          </a:xfrm>
          <a:prstGeom prst="line">
            <a:avLst/>
          </a:prstGeom>
          <a:ln w="254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657600" y="176021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007BFF"/>
                </a:solidFill>
              </a:defRPr>
            </a:pPr>
            <a:r>
              <a:t>DataFrame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760720" y="1691640"/>
            <a:ext cx="457200" cy="0"/>
          </a:xfrm>
          <a:prstGeom prst="line">
            <a:avLst/>
          </a:prstGeom>
          <a:ln w="254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532120" y="1417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007BFF"/>
                </a:solidFill>
              </a:defRPr>
            </a:pPr>
            <a:r>
              <a:t>Q</a:t>
            </a:r>
          </a:p>
        </p:txBody>
      </p:sp>
      <p:cxnSp>
        <p:nvCxnSpPr>
          <p:cNvPr id="33" name="Connector 32"/>
          <p:cNvCxnSpPr/>
          <p:nvPr/>
        </p:nvCxnSpPr>
        <p:spPr>
          <a:xfrm flipH="1">
            <a:off x="5760720" y="2057400"/>
            <a:ext cx="457200" cy="0"/>
          </a:xfrm>
          <a:prstGeom prst="line">
            <a:avLst/>
          </a:prstGeom>
          <a:ln w="254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532120" y="17830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007BFF"/>
                </a:solidFill>
              </a:defRPr>
            </a:pPr>
            <a:r>
              <a:t>Stats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074920" y="2286000"/>
            <a:ext cx="0" cy="274320"/>
          </a:xfrm>
          <a:prstGeom prst="line">
            <a:avLst/>
          </a:prstGeom>
          <a:ln w="254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617720" y="21488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007BFF"/>
                </a:solidFill>
              </a:defRPr>
            </a:pPr>
            <a:r>
              <a:t>Query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5486400" y="2286000"/>
            <a:ext cx="0" cy="274320"/>
          </a:xfrm>
          <a:prstGeom prst="line">
            <a:avLst/>
          </a:prstGeom>
          <a:ln w="254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029200" y="21488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007BFF"/>
                </a:solidFill>
              </a:defRPr>
            </a:pPr>
            <a:r>
              <a:t>Results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760720" y="2743200"/>
            <a:ext cx="457200" cy="0"/>
          </a:xfrm>
          <a:prstGeom prst="line">
            <a:avLst/>
          </a:prstGeom>
          <a:ln w="254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2011680" y="2286000"/>
            <a:ext cx="2834640" cy="1920240"/>
          </a:xfrm>
          <a:prstGeom prst="line">
            <a:avLst/>
          </a:prstGeom>
          <a:ln w="25400">
            <a:solidFill>
              <a:srgbClr val="80808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2971800" y="2971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007BFF"/>
                </a:solidFill>
              </a:defRPr>
            </a:pPr>
            <a:r>
              <a:t>LLM</a:t>
            </a:r>
          </a:p>
        </p:txBody>
      </p:sp>
      <p:cxnSp>
        <p:nvCxnSpPr>
          <p:cNvPr id="42" name="Connector 41"/>
          <p:cNvCxnSpPr/>
          <p:nvPr/>
        </p:nvCxnSpPr>
        <p:spPr>
          <a:xfrm flipV="1">
            <a:off x="2011680" y="2926080"/>
            <a:ext cx="2377440" cy="137160"/>
          </a:xfrm>
          <a:prstGeom prst="line">
            <a:avLst/>
          </a:prstGeom>
          <a:ln w="254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2743200" y="27203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007BFF"/>
                </a:solidFill>
              </a:defRPr>
            </a:pPr>
            <a:r>
              <a:t>Texts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760720" y="1874519"/>
            <a:ext cx="2011680" cy="640081"/>
          </a:xfrm>
          <a:prstGeom prst="line">
            <a:avLst/>
          </a:prstGeom>
          <a:ln w="254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309360" y="19202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007BFF"/>
                </a:solidFill>
              </a:defRPr>
            </a:pPr>
            <a:r>
              <a:t>Disc</a:t>
            </a:r>
          </a:p>
        </p:txBody>
      </p:sp>
      <p:cxnSp>
        <p:nvCxnSpPr>
          <p:cNvPr id="46" name="Connector 45"/>
          <p:cNvCxnSpPr/>
          <p:nvPr/>
        </p:nvCxnSpPr>
        <p:spPr>
          <a:xfrm flipV="1">
            <a:off x="7589520" y="2514600"/>
            <a:ext cx="182880" cy="411480"/>
          </a:xfrm>
          <a:prstGeom prst="line">
            <a:avLst/>
          </a:prstGeom>
          <a:ln w="254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6675120" y="3200400"/>
            <a:ext cx="1097280" cy="731520"/>
          </a:xfrm>
          <a:prstGeom prst="line">
            <a:avLst/>
          </a:prstGeom>
          <a:ln w="254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766560" y="329184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007BFF"/>
                </a:solidFill>
              </a:defRPr>
            </a:pPr>
            <a:r>
              <a:t>Data</a:t>
            </a:r>
          </a:p>
        </p:txBody>
      </p:sp>
      <p:cxnSp>
        <p:nvCxnSpPr>
          <p:cNvPr id="49" name="Connector 48"/>
          <p:cNvCxnSpPr/>
          <p:nvPr/>
        </p:nvCxnSpPr>
        <p:spPr>
          <a:xfrm flipV="1">
            <a:off x="6675120" y="2834640"/>
            <a:ext cx="3200400" cy="1097280"/>
          </a:xfrm>
          <a:prstGeom prst="line">
            <a:avLst/>
          </a:prstGeom>
          <a:ln w="254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7818120" y="31089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007BFF"/>
                </a:solidFill>
              </a:defRPr>
            </a:pPr>
            <a:r>
              <a:t>Format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418320" y="2971800"/>
            <a:ext cx="457200" cy="868680"/>
          </a:xfrm>
          <a:prstGeom prst="line">
            <a:avLst/>
          </a:prstGeom>
          <a:ln w="254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9189720" y="31318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007BFF"/>
                </a:solidFill>
              </a:defRPr>
            </a:pPr>
            <a:r>
              <a:t>JSON</a:t>
            </a:r>
          </a:p>
        </p:txBody>
      </p:sp>
      <p:cxnSp>
        <p:nvCxnSpPr>
          <p:cNvPr id="53" name="Connector 52"/>
          <p:cNvCxnSpPr/>
          <p:nvPr/>
        </p:nvCxnSpPr>
        <p:spPr>
          <a:xfrm flipV="1">
            <a:off x="9418320" y="1828800"/>
            <a:ext cx="457200" cy="228600"/>
          </a:xfrm>
          <a:prstGeom prst="line">
            <a:avLst/>
          </a:prstGeom>
          <a:ln w="2540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189720" y="166878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007BFF"/>
                </a:solidFill>
              </a:defRPr>
            </a:pPr>
            <a:r>
              <a:t>State</a:t>
            </a:r>
          </a:p>
        </p:txBody>
      </p:sp>
      <p:cxnSp>
        <p:nvCxnSpPr>
          <p:cNvPr id="55" name="Connector 54"/>
          <p:cNvCxnSpPr/>
          <p:nvPr/>
        </p:nvCxnSpPr>
        <p:spPr>
          <a:xfrm flipH="1" flipV="1">
            <a:off x="5074920" y="1280160"/>
            <a:ext cx="4800600" cy="274320"/>
          </a:xfrm>
          <a:prstGeom prst="line">
            <a:avLst/>
          </a:prstGeom>
          <a:ln w="25400">
            <a:solidFill>
              <a:srgbClr val="808080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7018020" y="114299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00">
                <a:solidFill>
                  <a:srgbClr val="007BFF"/>
                </a:solidFill>
              </a:defRPr>
            </a:pPr>
            <a:r>
              <a:t>Config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" y="576072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2060"/>
                </a:solidFill>
              </a:defRPr>
            </a:pPr>
            <a:r>
              <a:t>LEGEND</a:t>
            </a:r>
          </a:p>
        </p:txBody>
      </p:sp>
      <p:sp>
        <p:nvSpPr>
          <p:cNvPr id="58" name="Data 57"/>
          <p:cNvSpPr/>
          <p:nvPr/>
        </p:nvSpPr>
        <p:spPr>
          <a:xfrm>
            <a:off x="457200" y="6035040"/>
            <a:ext cx="228600" cy="182880"/>
          </a:xfrm>
          <a:prstGeom prst="flowChartInputOutput">
            <a:avLst/>
          </a:prstGeom>
          <a:solidFill>
            <a:srgbClr val="E6F0FF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77240" y="6035040"/>
            <a:ext cx="13716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700">
                <a:solidFill>
                  <a:srgbClr val="404040"/>
                </a:solidFill>
              </a:defRPr>
            </a:pPr>
            <a:r>
              <a:t>Cylinder = Data Store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57200" y="6355079"/>
            <a:ext cx="228600" cy="182880"/>
          </a:xfrm>
          <a:prstGeom prst="roundRect">
            <a:avLst/>
          </a:prstGeom>
          <a:solidFill>
            <a:srgbClr val="DCE6F0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7240" y="6355079"/>
            <a:ext cx="13716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700">
                <a:solidFill>
                  <a:srgbClr val="404040"/>
                </a:solidFill>
              </a:defRPr>
            </a:pPr>
            <a:r>
              <a:t>Rectangle = Processing</a:t>
            </a:r>
          </a:p>
        </p:txBody>
      </p:sp>
      <p:sp>
        <p:nvSpPr>
          <p:cNvPr id="62" name="Hexagon 61"/>
          <p:cNvSpPr/>
          <p:nvPr/>
        </p:nvSpPr>
        <p:spPr>
          <a:xfrm>
            <a:off x="457200" y="6675120"/>
            <a:ext cx="228600" cy="182880"/>
          </a:xfrm>
          <a:prstGeom prst="hexagon">
            <a:avLst/>
          </a:prstGeom>
          <a:solidFill>
            <a:srgbClr val="FFF5E6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77240" y="6675120"/>
            <a:ext cx="13716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700">
                <a:solidFill>
                  <a:srgbClr val="404040"/>
                </a:solidFill>
              </a:defRPr>
            </a:pPr>
            <a:r>
              <a:t>Hexagon = External API</a:t>
            </a:r>
          </a:p>
        </p:txBody>
      </p:sp>
      <p:sp>
        <p:nvSpPr>
          <p:cNvPr id="64" name="Parallelogram 63"/>
          <p:cNvSpPr/>
          <p:nvPr/>
        </p:nvSpPr>
        <p:spPr>
          <a:xfrm>
            <a:off x="457200" y="6995159"/>
            <a:ext cx="228600" cy="182880"/>
          </a:xfrm>
          <a:prstGeom prst="parallelogram">
            <a:avLst/>
          </a:prstGeom>
          <a:solidFill>
            <a:srgbClr val="00B050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77240" y="6995159"/>
            <a:ext cx="1371600" cy="1828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700">
                <a:solidFill>
                  <a:srgbClr val="404040"/>
                </a:solidFill>
              </a:defRPr>
            </a:pPr>
            <a:r>
              <a:t>Parallelogram = Output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43200" y="5760720"/>
            <a:ext cx="3200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2060"/>
                </a:solidFill>
              </a:defRPr>
            </a:pPr>
            <a:r>
              <a:t>RUNTIME TRIGGERS</a:t>
            </a:r>
          </a:p>
          <a:p>
            <a:pPr>
              <a:defRPr sz="700">
                <a:solidFill>
                  <a:srgbClr val="404040"/>
                </a:solidFill>
              </a:defRPr>
            </a:pPr>
            <a:r>
              <a:t>- User initiates via Streamlit UI</a:t>
            </a:r>
          </a:p>
          <a:p>
            <a:pPr>
              <a:defRPr sz="700">
                <a:solidFill>
                  <a:srgbClr val="404040"/>
                </a:solidFill>
              </a:defRPr>
            </a:pPr>
            <a:r>
              <a:t>- Cycles run sequentially (1-20)</a:t>
            </a:r>
          </a:p>
          <a:p>
            <a:pPr>
              <a:defRPr sz="700">
                <a:solidFill>
                  <a:srgbClr val="404040"/>
                </a:solidFill>
              </a:defRPr>
            </a:pPr>
            <a:r>
              <a:t>- Per-cycle: 3 questions</a:t>
            </a:r>
          </a:p>
          <a:p>
            <a:pPr>
              <a:defRPr sz="700">
                <a:solidFill>
                  <a:srgbClr val="404040"/>
                </a:solidFill>
              </a:defRPr>
            </a:pPr>
            <a:r>
              <a:t>- LLM calls: Optional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400800" y="5760720"/>
            <a:ext cx="2743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002060"/>
                </a:solidFill>
              </a:defRPr>
            </a:pPr>
            <a:r>
              <a:t>DEPLOYMENT</a:t>
            </a:r>
          </a:p>
          <a:p>
            <a:pPr>
              <a:defRPr sz="700">
                <a:solidFill>
                  <a:srgbClr val="404040"/>
                </a:solidFill>
              </a:defRPr>
            </a:pPr>
            <a:r>
              <a:t>- Local Python (streamlit run)</a:t>
            </a:r>
          </a:p>
          <a:p>
            <a:pPr>
              <a:defRPr sz="700">
                <a:solidFill>
                  <a:srgbClr val="404040"/>
                </a:solidFill>
              </a:defRPr>
            </a:pPr>
            <a:r>
              <a:t>- Deps: pandas, scipy, streamlit</a:t>
            </a:r>
          </a:p>
          <a:p>
            <a:pPr>
              <a:defRPr sz="700">
                <a:solidFill>
                  <a:srgbClr val="404040"/>
                </a:solidFill>
              </a:defRPr>
            </a:pPr>
            <a:r>
              <a:t>- Optional: OpenAI API key</a:t>
            </a:r>
          </a:p>
          <a:p>
            <a:pPr>
              <a:defRPr sz="700">
                <a:solidFill>
                  <a:srgbClr val="404040"/>
                </a:solidFill>
              </a:defRPr>
            </a:pPr>
            <a:r>
              <a:t>- Scale: Single-user, local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